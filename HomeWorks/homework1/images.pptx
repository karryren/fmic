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Lst>
  <p:sldSz cx="12192000" cy="6858000"/>
  <p:notesSz cx="6858000" cy="9144000"/>
  <p:defaultTextStyle>
    <a:defPPr>
      <a:defRPr lang="en-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7235"/>
    <p:restoredTop sz="94660"/>
  </p:normalViewPr>
  <p:slideViewPr>
    <p:cSldViewPr snapToGrid="0" snapToObjects="1">
      <p:cViewPr>
        <p:scale>
          <a:sx n="109" d="100"/>
          <a:sy n="109" d="100"/>
        </p:scale>
        <p:origin x="1272" y="4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presProps" Target="presProps.xml"/><Relationship Id="rId5" Type="http://schemas.openxmlformats.org/officeDocument/2006/relationships/slide" Target="slides/slide4.xml"/><Relationship Id="rId4" Type="http://schemas.openxmlformats.org/officeDocument/2006/relationships/slide" Target="slides/slide3.xml"/><Relationship Id="rId9"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7720EB-53FB-8C45-B9F4-828B521149D0}"/>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N"/>
          </a:p>
        </p:txBody>
      </p:sp>
      <p:sp>
        <p:nvSpPr>
          <p:cNvPr id="3" name="Subtitle 2">
            <a:extLst>
              <a:ext uri="{FF2B5EF4-FFF2-40B4-BE49-F238E27FC236}">
                <a16:creationId xmlns:a16="http://schemas.microsoft.com/office/drawing/2014/main" id="{271FCB80-6504-F74E-A6BD-06DDFE2FBB9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N"/>
          </a:p>
        </p:txBody>
      </p:sp>
      <p:sp>
        <p:nvSpPr>
          <p:cNvPr id="4" name="Date Placeholder 3">
            <a:extLst>
              <a:ext uri="{FF2B5EF4-FFF2-40B4-BE49-F238E27FC236}">
                <a16:creationId xmlns:a16="http://schemas.microsoft.com/office/drawing/2014/main" id="{B7B002FF-B244-8E46-B36E-E73696B99177}"/>
              </a:ext>
            </a:extLst>
          </p:cNvPr>
          <p:cNvSpPr>
            <a:spLocks noGrp="1"/>
          </p:cNvSpPr>
          <p:nvPr>
            <p:ph type="dt" sz="half" idx="10"/>
          </p:nvPr>
        </p:nvSpPr>
        <p:spPr/>
        <p:txBody>
          <a:bodyPr/>
          <a:lstStyle/>
          <a:p>
            <a:fld id="{322E4AA4-BEDE-CB44-B2CC-66E1D385BA6A}" type="datetimeFigureOut">
              <a:rPr lang="en-CN" smtClean="0"/>
              <a:t>2024/12/9</a:t>
            </a:fld>
            <a:endParaRPr lang="en-CN"/>
          </a:p>
        </p:txBody>
      </p:sp>
      <p:sp>
        <p:nvSpPr>
          <p:cNvPr id="5" name="Footer Placeholder 4">
            <a:extLst>
              <a:ext uri="{FF2B5EF4-FFF2-40B4-BE49-F238E27FC236}">
                <a16:creationId xmlns:a16="http://schemas.microsoft.com/office/drawing/2014/main" id="{06E7D8C1-ADB5-9741-A2B0-FABD69C98863}"/>
              </a:ext>
            </a:extLst>
          </p:cNvPr>
          <p:cNvSpPr>
            <a:spLocks noGrp="1"/>
          </p:cNvSpPr>
          <p:nvPr>
            <p:ph type="ftr" sz="quarter" idx="11"/>
          </p:nvPr>
        </p:nvSpPr>
        <p:spPr/>
        <p:txBody>
          <a:bodyPr/>
          <a:lstStyle/>
          <a:p>
            <a:endParaRPr lang="en-CN"/>
          </a:p>
        </p:txBody>
      </p:sp>
      <p:sp>
        <p:nvSpPr>
          <p:cNvPr id="6" name="Slide Number Placeholder 5">
            <a:extLst>
              <a:ext uri="{FF2B5EF4-FFF2-40B4-BE49-F238E27FC236}">
                <a16:creationId xmlns:a16="http://schemas.microsoft.com/office/drawing/2014/main" id="{1B99F4B2-C118-CF42-8C70-A6313F59F931}"/>
              </a:ext>
            </a:extLst>
          </p:cNvPr>
          <p:cNvSpPr>
            <a:spLocks noGrp="1"/>
          </p:cNvSpPr>
          <p:nvPr>
            <p:ph type="sldNum" sz="quarter" idx="12"/>
          </p:nvPr>
        </p:nvSpPr>
        <p:spPr/>
        <p:txBody>
          <a:bodyPr/>
          <a:lstStyle/>
          <a:p>
            <a:fld id="{6D795B09-EF84-4B40-ABD6-33507B264A7C}" type="slidenum">
              <a:rPr lang="en-CN" smtClean="0"/>
              <a:t>‹#›</a:t>
            </a:fld>
            <a:endParaRPr lang="en-CN"/>
          </a:p>
        </p:txBody>
      </p:sp>
    </p:spTree>
    <p:extLst>
      <p:ext uri="{BB962C8B-B14F-4D97-AF65-F5344CB8AC3E}">
        <p14:creationId xmlns:p14="http://schemas.microsoft.com/office/powerpoint/2010/main" val="418070912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A00E0C-194B-1449-B4BC-54F04D3E0124}"/>
              </a:ext>
            </a:extLst>
          </p:cNvPr>
          <p:cNvSpPr>
            <a:spLocks noGrp="1"/>
          </p:cNvSpPr>
          <p:nvPr>
            <p:ph type="title"/>
          </p:nvPr>
        </p:nvSpPr>
        <p:spPr/>
        <p:txBody>
          <a:bodyPr/>
          <a:lstStyle/>
          <a:p>
            <a:r>
              <a:rPr lang="en-US"/>
              <a:t>Click to edit Master title style</a:t>
            </a:r>
            <a:endParaRPr lang="en-CN"/>
          </a:p>
        </p:txBody>
      </p:sp>
      <p:sp>
        <p:nvSpPr>
          <p:cNvPr id="3" name="Content Placeholder 2">
            <a:extLst>
              <a:ext uri="{FF2B5EF4-FFF2-40B4-BE49-F238E27FC236}">
                <a16:creationId xmlns:a16="http://schemas.microsoft.com/office/drawing/2014/main" id="{6688639F-9B87-F843-8AE2-09E6FAEBFCF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N"/>
          </a:p>
        </p:txBody>
      </p:sp>
      <p:sp>
        <p:nvSpPr>
          <p:cNvPr id="4" name="Date Placeholder 3">
            <a:extLst>
              <a:ext uri="{FF2B5EF4-FFF2-40B4-BE49-F238E27FC236}">
                <a16:creationId xmlns:a16="http://schemas.microsoft.com/office/drawing/2014/main" id="{4363F63D-429D-2D44-8128-C2D60A6479B2}"/>
              </a:ext>
            </a:extLst>
          </p:cNvPr>
          <p:cNvSpPr>
            <a:spLocks noGrp="1"/>
          </p:cNvSpPr>
          <p:nvPr>
            <p:ph type="dt" sz="half" idx="10"/>
          </p:nvPr>
        </p:nvSpPr>
        <p:spPr/>
        <p:txBody>
          <a:bodyPr/>
          <a:lstStyle/>
          <a:p>
            <a:fld id="{322E4AA4-BEDE-CB44-B2CC-66E1D385BA6A}" type="datetimeFigureOut">
              <a:rPr lang="en-CN" smtClean="0"/>
              <a:t>2024/12/9</a:t>
            </a:fld>
            <a:endParaRPr lang="en-CN"/>
          </a:p>
        </p:txBody>
      </p:sp>
      <p:sp>
        <p:nvSpPr>
          <p:cNvPr id="5" name="Footer Placeholder 4">
            <a:extLst>
              <a:ext uri="{FF2B5EF4-FFF2-40B4-BE49-F238E27FC236}">
                <a16:creationId xmlns:a16="http://schemas.microsoft.com/office/drawing/2014/main" id="{D7234A83-74C4-D646-84B9-84AF0A16B973}"/>
              </a:ext>
            </a:extLst>
          </p:cNvPr>
          <p:cNvSpPr>
            <a:spLocks noGrp="1"/>
          </p:cNvSpPr>
          <p:nvPr>
            <p:ph type="ftr" sz="quarter" idx="11"/>
          </p:nvPr>
        </p:nvSpPr>
        <p:spPr/>
        <p:txBody>
          <a:bodyPr/>
          <a:lstStyle/>
          <a:p>
            <a:endParaRPr lang="en-CN"/>
          </a:p>
        </p:txBody>
      </p:sp>
      <p:sp>
        <p:nvSpPr>
          <p:cNvPr id="6" name="Slide Number Placeholder 5">
            <a:extLst>
              <a:ext uri="{FF2B5EF4-FFF2-40B4-BE49-F238E27FC236}">
                <a16:creationId xmlns:a16="http://schemas.microsoft.com/office/drawing/2014/main" id="{31B877CA-1B73-954C-A863-B9BAE4A90821}"/>
              </a:ext>
            </a:extLst>
          </p:cNvPr>
          <p:cNvSpPr>
            <a:spLocks noGrp="1"/>
          </p:cNvSpPr>
          <p:nvPr>
            <p:ph type="sldNum" sz="quarter" idx="12"/>
          </p:nvPr>
        </p:nvSpPr>
        <p:spPr/>
        <p:txBody>
          <a:bodyPr/>
          <a:lstStyle/>
          <a:p>
            <a:fld id="{6D795B09-EF84-4B40-ABD6-33507B264A7C}" type="slidenum">
              <a:rPr lang="en-CN" smtClean="0"/>
              <a:t>‹#›</a:t>
            </a:fld>
            <a:endParaRPr lang="en-CN"/>
          </a:p>
        </p:txBody>
      </p:sp>
    </p:spTree>
    <p:extLst>
      <p:ext uri="{BB962C8B-B14F-4D97-AF65-F5344CB8AC3E}">
        <p14:creationId xmlns:p14="http://schemas.microsoft.com/office/powerpoint/2010/main" val="34330164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337F54-D1C5-2C46-8C17-723ABE439ECD}"/>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N"/>
          </a:p>
        </p:txBody>
      </p:sp>
      <p:sp>
        <p:nvSpPr>
          <p:cNvPr id="3" name="Text Placeholder 2">
            <a:extLst>
              <a:ext uri="{FF2B5EF4-FFF2-40B4-BE49-F238E27FC236}">
                <a16:creationId xmlns:a16="http://schemas.microsoft.com/office/drawing/2014/main" id="{D2180A37-DFB3-C64D-881E-0B3AFA31372C}"/>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25620E8-6F6C-9547-AD68-CC10666F38FC}"/>
              </a:ext>
            </a:extLst>
          </p:cNvPr>
          <p:cNvSpPr>
            <a:spLocks noGrp="1"/>
          </p:cNvSpPr>
          <p:nvPr>
            <p:ph type="dt" sz="half" idx="10"/>
          </p:nvPr>
        </p:nvSpPr>
        <p:spPr/>
        <p:txBody>
          <a:bodyPr/>
          <a:lstStyle/>
          <a:p>
            <a:fld id="{322E4AA4-BEDE-CB44-B2CC-66E1D385BA6A}" type="datetimeFigureOut">
              <a:rPr lang="en-CN" smtClean="0"/>
              <a:t>2024/12/9</a:t>
            </a:fld>
            <a:endParaRPr lang="en-CN"/>
          </a:p>
        </p:txBody>
      </p:sp>
      <p:sp>
        <p:nvSpPr>
          <p:cNvPr id="5" name="Footer Placeholder 4">
            <a:extLst>
              <a:ext uri="{FF2B5EF4-FFF2-40B4-BE49-F238E27FC236}">
                <a16:creationId xmlns:a16="http://schemas.microsoft.com/office/drawing/2014/main" id="{7D7E96C4-C3AD-B048-AAD0-70F796D3F672}"/>
              </a:ext>
            </a:extLst>
          </p:cNvPr>
          <p:cNvSpPr>
            <a:spLocks noGrp="1"/>
          </p:cNvSpPr>
          <p:nvPr>
            <p:ph type="ftr" sz="quarter" idx="11"/>
          </p:nvPr>
        </p:nvSpPr>
        <p:spPr/>
        <p:txBody>
          <a:bodyPr/>
          <a:lstStyle/>
          <a:p>
            <a:endParaRPr lang="en-CN"/>
          </a:p>
        </p:txBody>
      </p:sp>
      <p:sp>
        <p:nvSpPr>
          <p:cNvPr id="6" name="Slide Number Placeholder 5">
            <a:extLst>
              <a:ext uri="{FF2B5EF4-FFF2-40B4-BE49-F238E27FC236}">
                <a16:creationId xmlns:a16="http://schemas.microsoft.com/office/drawing/2014/main" id="{DB265C00-4A1E-A745-A0AC-44951BCACD1C}"/>
              </a:ext>
            </a:extLst>
          </p:cNvPr>
          <p:cNvSpPr>
            <a:spLocks noGrp="1"/>
          </p:cNvSpPr>
          <p:nvPr>
            <p:ph type="sldNum" sz="quarter" idx="12"/>
          </p:nvPr>
        </p:nvSpPr>
        <p:spPr/>
        <p:txBody>
          <a:bodyPr/>
          <a:lstStyle/>
          <a:p>
            <a:fld id="{6D795B09-EF84-4B40-ABD6-33507B264A7C}" type="slidenum">
              <a:rPr lang="en-CN" smtClean="0"/>
              <a:t>‹#›</a:t>
            </a:fld>
            <a:endParaRPr lang="en-CN"/>
          </a:p>
        </p:txBody>
      </p:sp>
    </p:spTree>
    <p:extLst>
      <p:ext uri="{BB962C8B-B14F-4D97-AF65-F5344CB8AC3E}">
        <p14:creationId xmlns:p14="http://schemas.microsoft.com/office/powerpoint/2010/main" val="250058682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BEF164-B0CF-DB4D-AA9C-F0089D5F2FB0}"/>
              </a:ext>
            </a:extLst>
          </p:cNvPr>
          <p:cNvSpPr>
            <a:spLocks noGrp="1"/>
          </p:cNvSpPr>
          <p:nvPr>
            <p:ph type="title"/>
          </p:nvPr>
        </p:nvSpPr>
        <p:spPr/>
        <p:txBody>
          <a:bodyPr/>
          <a:lstStyle/>
          <a:p>
            <a:r>
              <a:rPr lang="en-US"/>
              <a:t>Click to edit Master title style</a:t>
            </a:r>
            <a:endParaRPr lang="en-CN"/>
          </a:p>
        </p:txBody>
      </p:sp>
      <p:sp>
        <p:nvSpPr>
          <p:cNvPr id="3" name="Content Placeholder 2">
            <a:extLst>
              <a:ext uri="{FF2B5EF4-FFF2-40B4-BE49-F238E27FC236}">
                <a16:creationId xmlns:a16="http://schemas.microsoft.com/office/drawing/2014/main" id="{718210B7-72F2-F743-9E2F-84FDB9763B7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N"/>
          </a:p>
        </p:txBody>
      </p:sp>
      <p:sp>
        <p:nvSpPr>
          <p:cNvPr id="4" name="Content Placeholder 3">
            <a:extLst>
              <a:ext uri="{FF2B5EF4-FFF2-40B4-BE49-F238E27FC236}">
                <a16:creationId xmlns:a16="http://schemas.microsoft.com/office/drawing/2014/main" id="{B6F2B1C3-7F1F-A745-8239-D185FC85E72A}"/>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N"/>
          </a:p>
        </p:txBody>
      </p:sp>
      <p:sp>
        <p:nvSpPr>
          <p:cNvPr id="5" name="Date Placeholder 4">
            <a:extLst>
              <a:ext uri="{FF2B5EF4-FFF2-40B4-BE49-F238E27FC236}">
                <a16:creationId xmlns:a16="http://schemas.microsoft.com/office/drawing/2014/main" id="{D259B799-CA9F-AD45-9F1C-9D1FE0D6F85E}"/>
              </a:ext>
            </a:extLst>
          </p:cNvPr>
          <p:cNvSpPr>
            <a:spLocks noGrp="1"/>
          </p:cNvSpPr>
          <p:nvPr>
            <p:ph type="dt" sz="half" idx="10"/>
          </p:nvPr>
        </p:nvSpPr>
        <p:spPr/>
        <p:txBody>
          <a:bodyPr/>
          <a:lstStyle/>
          <a:p>
            <a:fld id="{322E4AA4-BEDE-CB44-B2CC-66E1D385BA6A}" type="datetimeFigureOut">
              <a:rPr lang="en-CN" smtClean="0"/>
              <a:t>2024/12/9</a:t>
            </a:fld>
            <a:endParaRPr lang="en-CN"/>
          </a:p>
        </p:txBody>
      </p:sp>
      <p:sp>
        <p:nvSpPr>
          <p:cNvPr id="6" name="Footer Placeholder 5">
            <a:extLst>
              <a:ext uri="{FF2B5EF4-FFF2-40B4-BE49-F238E27FC236}">
                <a16:creationId xmlns:a16="http://schemas.microsoft.com/office/drawing/2014/main" id="{050AAB9A-8A80-1E4E-A83B-CD5F5E166FBF}"/>
              </a:ext>
            </a:extLst>
          </p:cNvPr>
          <p:cNvSpPr>
            <a:spLocks noGrp="1"/>
          </p:cNvSpPr>
          <p:nvPr>
            <p:ph type="ftr" sz="quarter" idx="11"/>
          </p:nvPr>
        </p:nvSpPr>
        <p:spPr/>
        <p:txBody>
          <a:bodyPr/>
          <a:lstStyle/>
          <a:p>
            <a:endParaRPr lang="en-CN"/>
          </a:p>
        </p:txBody>
      </p:sp>
      <p:sp>
        <p:nvSpPr>
          <p:cNvPr id="7" name="Slide Number Placeholder 6">
            <a:extLst>
              <a:ext uri="{FF2B5EF4-FFF2-40B4-BE49-F238E27FC236}">
                <a16:creationId xmlns:a16="http://schemas.microsoft.com/office/drawing/2014/main" id="{30CB3930-31D2-E541-AF43-BFD8BD735AEC}"/>
              </a:ext>
            </a:extLst>
          </p:cNvPr>
          <p:cNvSpPr>
            <a:spLocks noGrp="1"/>
          </p:cNvSpPr>
          <p:nvPr>
            <p:ph type="sldNum" sz="quarter" idx="12"/>
          </p:nvPr>
        </p:nvSpPr>
        <p:spPr/>
        <p:txBody>
          <a:bodyPr/>
          <a:lstStyle/>
          <a:p>
            <a:fld id="{6D795B09-EF84-4B40-ABD6-33507B264A7C}" type="slidenum">
              <a:rPr lang="en-CN" smtClean="0"/>
              <a:t>‹#›</a:t>
            </a:fld>
            <a:endParaRPr lang="en-CN"/>
          </a:p>
        </p:txBody>
      </p:sp>
    </p:spTree>
    <p:extLst>
      <p:ext uri="{BB962C8B-B14F-4D97-AF65-F5344CB8AC3E}">
        <p14:creationId xmlns:p14="http://schemas.microsoft.com/office/powerpoint/2010/main" val="40056172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3A2721-CB19-594F-8545-29BA0A01D921}"/>
              </a:ext>
            </a:extLst>
          </p:cNvPr>
          <p:cNvSpPr>
            <a:spLocks noGrp="1"/>
          </p:cNvSpPr>
          <p:nvPr>
            <p:ph type="title"/>
          </p:nvPr>
        </p:nvSpPr>
        <p:spPr>
          <a:xfrm>
            <a:off x="839788" y="365125"/>
            <a:ext cx="10515600" cy="1325563"/>
          </a:xfrm>
        </p:spPr>
        <p:txBody>
          <a:bodyPr/>
          <a:lstStyle/>
          <a:p>
            <a:r>
              <a:rPr lang="en-US"/>
              <a:t>Click to edit Master title style</a:t>
            </a:r>
            <a:endParaRPr lang="en-CN"/>
          </a:p>
        </p:txBody>
      </p:sp>
      <p:sp>
        <p:nvSpPr>
          <p:cNvPr id="3" name="Text Placeholder 2">
            <a:extLst>
              <a:ext uri="{FF2B5EF4-FFF2-40B4-BE49-F238E27FC236}">
                <a16:creationId xmlns:a16="http://schemas.microsoft.com/office/drawing/2014/main" id="{6766E377-DF7A-AA4D-AE1C-3084974ACED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8F9A6C03-0057-2741-8F19-B00AD48319F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N"/>
          </a:p>
        </p:txBody>
      </p:sp>
      <p:sp>
        <p:nvSpPr>
          <p:cNvPr id="5" name="Text Placeholder 4">
            <a:extLst>
              <a:ext uri="{FF2B5EF4-FFF2-40B4-BE49-F238E27FC236}">
                <a16:creationId xmlns:a16="http://schemas.microsoft.com/office/drawing/2014/main" id="{081DFFCB-7E58-F547-B57C-59517F7442C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9CCD656-CFC7-A748-8DF0-ECE43E4A0224}"/>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N"/>
          </a:p>
        </p:txBody>
      </p:sp>
      <p:sp>
        <p:nvSpPr>
          <p:cNvPr id="7" name="Date Placeholder 6">
            <a:extLst>
              <a:ext uri="{FF2B5EF4-FFF2-40B4-BE49-F238E27FC236}">
                <a16:creationId xmlns:a16="http://schemas.microsoft.com/office/drawing/2014/main" id="{B61CB36E-30B4-5044-8CC4-873BBC7F4A7C}"/>
              </a:ext>
            </a:extLst>
          </p:cNvPr>
          <p:cNvSpPr>
            <a:spLocks noGrp="1"/>
          </p:cNvSpPr>
          <p:nvPr>
            <p:ph type="dt" sz="half" idx="10"/>
          </p:nvPr>
        </p:nvSpPr>
        <p:spPr/>
        <p:txBody>
          <a:bodyPr/>
          <a:lstStyle/>
          <a:p>
            <a:fld id="{322E4AA4-BEDE-CB44-B2CC-66E1D385BA6A}" type="datetimeFigureOut">
              <a:rPr lang="en-CN" smtClean="0"/>
              <a:t>2024/12/9</a:t>
            </a:fld>
            <a:endParaRPr lang="en-CN"/>
          </a:p>
        </p:txBody>
      </p:sp>
      <p:sp>
        <p:nvSpPr>
          <p:cNvPr id="8" name="Footer Placeholder 7">
            <a:extLst>
              <a:ext uri="{FF2B5EF4-FFF2-40B4-BE49-F238E27FC236}">
                <a16:creationId xmlns:a16="http://schemas.microsoft.com/office/drawing/2014/main" id="{1F7FF9F9-1A6C-1A4C-AB11-E9221D3955FE}"/>
              </a:ext>
            </a:extLst>
          </p:cNvPr>
          <p:cNvSpPr>
            <a:spLocks noGrp="1"/>
          </p:cNvSpPr>
          <p:nvPr>
            <p:ph type="ftr" sz="quarter" idx="11"/>
          </p:nvPr>
        </p:nvSpPr>
        <p:spPr/>
        <p:txBody>
          <a:bodyPr/>
          <a:lstStyle/>
          <a:p>
            <a:endParaRPr lang="en-CN"/>
          </a:p>
        </p:txBody>
      </p:sp>
      <p:sp>
        <p:nvSpPr>
          <p:cNvPr id="9" name="Slide Number Placeholder 8">
            <a:extLst>
              <a:ext uri="{FF2B5EF4-FFF2-40B4-BE49-F238E27FC236}">
                <a16:creationId xmlns:a16="http://schemas.microsoft.com/office/drawing/2014/main" id="{9A12B7A7-CF18-644A-8857-6BEA6CBF239B}"/>
              </a:ext>
            </a:extLst>
          </p:cNvPr>
          <p:cNvSpPr>
            <a:spLocks noGrp="1"/>
          </p:cNvSpPr>
          <p:nvPr>
            <p:ph type="sldNum" sz="quarter" idx="12"/>
          </p:nvPr>
        </p:nvSpPr>
        <p:spPr/>
        <p:txBody>
          <a:bodyPr/>
          <a:lstStyle/>
          <a:p>
            <a:fld id="{6D795B09-EF84-4B40-ABD6-33507B264A7C}" type="slidenum">
              <a:rPr lang="en-CN" smtClean="0"/>
              <a:t>‹#›</a:t>
            </a:fld>
            <a:endParaRPr lang="en-CN"/>
          </a:p>
        </p:txBody>
      </p:sp>
    </p:spTree>
    <p:extLst>
      <p:ext uri="{BB962C8B-B14F-4D97-AF65-F5344CB8AC3E}">
        <p14:creationId xmlns:p14="http://schemas.microsoft.com/office/powerpoint/2010/main" val="9269792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A990A7-D087-F042-97CF-0710D4AB2A57}"/>
              </a:ext>
            </a:extLst>
          </p:cNvPr>
          <p:cNvSpPr>
            <a:spLocks noGrp="1"/>
          </p:cNvSpPr>
          <p:nvPr>
            <p:ph type="title"/>
          </p:nvPr>
        </p:nvSpPr>
        <p:spPr/>
        <p:txBody>
          <a:bodyPr/>
          <a:lstStyle/>
          <a:p>
            <a:r>
              <a:rPr lang="en-US"/>
              <a:t>Click to edit Master title style</a:t>
            </a:r>
            <a:endParaRPr lang="en-CN"/>
          </a:p>
        </p:txBody>
      </p:sp>
      <p:sp>
        <p:nvSpPr>
          <p:cNvPr id="3" name="Date Placeholder 2">
            <a:extLst>
              <a:ext uri="{FF2B5EF4-FFF2-40B4-BE49-F238E27FC236}">
                <a16:creationId xmlns:a16="http://schemas.microsoft.com/office/drawing/2014/main" id="{AD13E029-E00F-A445-A322-3525FB707282}"/>
              </a:ext>
            </a:extLst>
          </p:cNvPr>
          <p:cNvSpPr>
            <a:spLocks noGrp="1"/>
          </p:cNvSpPr>
          <p:nvPr>
            <p:ph type="dt" sz="half" idx="10"/>
          </p:nvPr>
        </p:nvSpPr>
        <p:spPr/>
        <p:txBody>
          <a:bodyPr/>
          <a:lstStyle/>
          <a:p>
            <a:fld id="{322E4AA4-BEDE-CB44-B2CC-66E1D385BA6A}" type="datetimeFigureOut">
              <a:rPr lang="en-CN" smtClean="0"/>
              <a:t>2024/12/9</a:t>
            </a:fld>
            <a:endParaRPr lang="en-CN"/>
          </a:p>
        </p:txBody>
      </p:sp>
      <p:sp>
        <p:nvSpPr>
          <p:cNvPr id="4" name="Footer Placeholder 3">
            <a:extLst>
              <a:ext uri="{FF2B5EF4-FFF2-40B4-BE49-F238E27FC236}">
                <a16:creationId xmlns:a16="http://schemas.microsoft.com/office/drawing/2014/main" id="{B8A503FE-3146-A642-8906-BC78B20855F6}"/>
              </a:ext>
            </a:extLst>
          </p:cNvPr>
          <p:cNvSpPr>
            <a:spLocks noGrp="1"/>
          </p:cNvSpPr>
          <p:nvPr>
            <p:ph type="ftr" sz="quarter" idx="11"/>
          </p:nvPr>
        </p:nvSpPr>
        <p:spPr/>
        <p:txBody>
          <a:bodyPr/>
          <a:lstStyle/>
          <a:p>
            <a:endParaRPr lang="en-CN"/>
          </a:p>
        </p:txBody>
      </p:sp>
      <p:sp>
        <p:nvSpPr>
          <p:cNvPr id="5" name="Slide Number Placeholder 4">
            <a:extLst>
              <a:ext uri="{FF2B5EF4-FFF2-40B4-BE49-F238E27FC236}">
                <a16:creationId xmlns:a16="http://schemas.microsoft.com/office/drawing/2014/main" id="{4FB3951B-7A28-024D-84C1-6B6892B2620B}"/>
              </a:ext>
            </a:extLst>
          </p:cNvPr>
          <p:cNvSpPr>
            <a:spLocks noGrp="1"/>
          </p:cNvSpPr>
          <p:nvPr>
            <p:ph type="sldNum" sz="quarter" idx="12"/>
          </p:nvPr>
        </p:nvSpPr>
        <p:spPr/>
        <p:txBody>
          <a:bodyPr/>
          <a:lstStyle/>
          <a:p>
            <a:fld id="{6D795B09-EF84-4B40-ABD6-33507B264A7C}" type="slidenum">
              <a:rPr lang="en-CN" smtClean="0"/>
              <a:t>‹#›</a:t>
            </a:fld>
            <a:endParaRPr lang="en-CN"/>
          </a:p>
        </p:txBody>
      </p:sp>
    </p:spTree>
    <p:extLst>
      <p:ext uri="{BB962C8B-B14F-4D97-AF65-F5344CB8AC3E}">
        <p14:creationId xmlns:p14="http://schemas.microsoft.com/office/powerpoint/2010/main" val="163358646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0E66911-AB38-C646-8412-12B044B8D5E3}"/>
              </a:ext>
            </a:extLst>
          </p:cNvPr>
          <p:cNvSpPr>
            <a:spLocks noGrp="1"/>
          </p:cNvSpPr>
          <p:nvPr>
            <p:ph type="dt" sz="half" idx="10"/>
          </p:nvPr>
        </p:nvSpPr>
        <p:spPr/>
        <p:txBody>
          <a:bodyPr/>
          <a:lstStyle/>
          <a:p>
            <a:fld id="{322E4AA4-BEDE-CB44-B2CC-66E1D385BA6A}" type="datetimeFigureOut">
              <a:rPr lang="en-CN" smtClean="0"/>
              <a:t>2024/12/9</a:t>
            </a:fld>
            <a:endParaRPr lang="en-CN"/>
          </a:p>
        </p:txBody>
      </p:sp>
      <p:sp>
        <p:nvSpPr>
          <p:cNvPr id="3" name="Footer Placeholder 2">
            <a:extLst>
              <a:ext uri="{FF2B5EF4-FFF2-40B4-BE49-F238E27FC236}">
                <a16:creationId xmlns:a16="http://schemas.microsoft.com/office/drawing/2014/main" id="{7B70C705-8C64-E645-8AEE-8FBFB8E830FE}"/>
              </a:ext>
            </a:extLst>
          </p:cNvPr>
          <p:cNvSpPr>
            <a:spLocks noGrp="1"/>
          </p:cNvSpPr>
          <p:nvPr>
            <p:ph type="ftr" sz="quarter" idx="11"/>
          </p:nvPr>
        </p:nvSpPr>
        <p:spPr/>
        <p:txBody>
          <a:bodyPr/>
          <a:lstStyle/>
          <a:p>
            <a:endParaRPr lang="en-CN"/>
          </a:p>
        </p:txBody>
      </p:sp>
      <p:sp>
        <p:nvSpPr>
          <p:cNvPr id="4" name="Slide Number Placeholder 3">
            <a:extLst>
              <a:ext uri="{FF2B5EF4-FFF2-40B4-BE49-F238E27FC236}">
                <a16:creationId xmlns:a16="http://schemas.microsoft.com/office/drawing/2014/main" id="{18E3C0E9-B6B8-4E4C-8799-1B63647E6ABD}"/>
              </a:ext>
            </a:extLst>
          </p:cNvPr>
          <p:cNvSpPr>
            <a:spLocks noGrp="1"/>
          </p:cNvSpPr>
          <p:nvPr>
            <p:ph type="sldNum" sz="quarter" idx="12"/>
          </p:nvPr>
        </p:nvSpPr>
        <p:spPr/>
        <p:txBody>
          <a:bodyPr/>
          <a:lstStyle/>
          <a:p>
            <a:fld id="{6D795B09-EF84-4B40-ABD6-33507B264A7C}" type="slidenum">
              <a:rPr lang="en-CN" smtClean="0"/>
              <a:t>‹#›</a:t>
            </a:fld>
            <a:endParaRPr lang="en-CN"/>
          </a:p>
        </p:txBody>
      </p:sp>
    </p:spTree>
    <p:extLst>
      <p:ext uri="{BB962C8B-B14F-4D97-AF65-F5344CB8AC3E}">
        <p14:creationId xmlns:p14="http://schemas.microsoft.com/office/powerpoint/2010/main" val="177174188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F677E4-0B78-9942-AAE2-759BD6F7956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N"/>
          </a:p>
        </p:txBody>
      </p:sp>
      <p:sp>
        <p:nvSpPr>
          <p:cNvPr id="3" name="Content Placeholder 2">
            <a:extLst>
              <a:ext uri="{FF2B5EF4-FFF2-40B4-BE49-F238E27FC236}">
                <a16:creationId xmlns:a16="http://schemas.microsoft.com/office/drawing/2014/main" id="{E530B42D-F9EF-D647-B399-CD177D3F3C9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N"/>
          </a:p>
        </p:txBody>
      </p:sp>
      <p:sp>
        <p:nvSpPr>
          <p:cNvPr id="4" name="Text Placeholder 3">
            <a:extLst>
              <a:ext uri="{FF2B5EF4-FFF2-40B4-BE49-F238E27FC236}">
                <a16:creationId xmlns:a16="http://schemas.microsoft.com/office/drawing/2014/main" id="{1CC88570-EF94-554D-9F61-0A6586B1943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0A0A9EB-B5B1-C84E-B444-1669C20BAAB1}"/>
              </a:ext>
            </a:extLst>
          </p:cNvPr>
          <p:cNvSpPr>
            <a:spLocks noGrp="1"/>
          </p:cNvSpPr>
          <p:nvPr>
            <p:ph type="dt" sz="half" idx="10"/>
          </p:nvPr>
        </p:nvSpPr>
        <p:spPr/>
        <p:txBody>
          <a:bodyPr/>
          <a:lstStyle/>
          <a:p>
            <a:fld id="{322E4AA4-BEDE-CB44-B2CC-66E1D385BA6A}" type="datetimeFigureOut">
              <a:rPr lang="en-CN" smtClean="0"/>
              <a:t>2024/12/9</a:t>
            </a:fld>
            <a:endParaRPr lang="en-CN"/>
          </a:p>
        </p:txBody>
      </p:sp>
      <p:sp>
        <p:nvSpPr>
          <p:cNvPr id="6" name="Footer Placeholder 5">
            <a:extLst>
              <a:ext uri="{FF2B5EF4-FFF2-40B4-BE49-F238E27FC236}">
                <a16:creationId xmlns:a16="http://schemas.microsoft.com/office/drawing/2014/main" id="{683265E0-3984-1144-8FAB-0EB963E2A8B9}"/>
              </a:ext>
            </a:extLst>
          </p:cNvPr>
          <p:cNvSpPr>
            <a:spLocks noGrp="1"/>
          </p:cNvSpPr>
          <p:nvPr>
            <p:ph type="ftr" sz="quarter" idx="11"/>
          </p:nvPr>
        </p:nvSpPr>
        <p:spPr/>
        <p:txBody>
          <a:bodyPr/>
          <a:lstStyle/>
          <a:p>
            <a:endParaRPr lang="en-CN"/>
          </a:p>
        </p:txBody>
      </p:sp>
      <p:sp>
        <p:nvSpPr>
          <p:cNvPr id="7" name="Slide Number Placeholder 6">
            <a:extLst>
              <a:ext uri="{FF2B5EF4-FFF2-40B4-BE49-F238E27FC236}">
                <a16:creationId xmlns:a16="http://schemas.microsoft.com/office/drawing/2014/main" id="{145ED609-D209-5E40-B2EB-992AE8C9DEEC}"/>
              </a:ext>
            </a:extLst>
          </p:cNvPr>
          <p:cNvSpPr>
            <a:spLocks noGrp="1"/>
          </p:cNvSpPr>
          <p:nvPr>
            <p:ph type="sldNum" sz="quarter" idx="12"/>
          </p:nvPr>
        </p:nvSpPr>
        <p:spPr/>
        <p:txBody>
          <a:bodyPr/>
          <a:lstStyle/>
          <a:p>
            <a:fld id="{6D795B09-EF84-4B40-ABD6-33507B264A7C}" type="slidenum">
              <a:rPr lang="en-CN" smtClean="0"/>
              <a:t>‹#›</a:t>
            </a:fld>
            <a:endParaRPr lang="en-CN"/>
          </a:p>
        </p:txBody>
      </p:sp>
    </p:spTree>
    <p:extLst>
      <p:ext uri="{BB962C8B-B14F-4D97-AF65-F5344CB8AC3E}">
        <p14:creationId xmlns:p14="http://schemas.microsoft.com/office/powerpoint/2010/main" val="242684963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5B8C43-E09D-DB40-A870-49C81DFCE52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N"/>
          </a:p>
        </p:txBody>
      </p:sp>
      <p:sp>
        <p:nvSpPr>
          <p:cNvPr id="3" name="Picture Placeholder 2">
            <a:extLst>
              <a:ext uri="{FF2B5EF4-FFF2-40B4-BE49-F238E27FC236}">
                <a16:creationId xmlns:a16="http://schemas.microsoft.com/office/drawing/2014/main" id="{74ACA9BD-E3FC-6A44-B977-E87B457FFF0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N"/>
          </a:p>
        </p:txBody>
      </p:sp>
      <p:sp>
        <p:nvSpPr>
          <p:cNvPr id="4" name="Text Placeholder 3">
            <a:extLst>
              <a:ext uri="{FF2B5EF4-FFF2-40B4-BE49-F238E27FC236}">
                <a16:creationId xmlns:a16="http://schemas.microsoft.com/office/drawing/2014/main" id="{81B067FF-4CFA-714F-AD91-6BF145F2C78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1F0B5BB-49F7-7E4C-9569-5C10874E816F}"/>
              </a:ext>
            </a:extLst>
          </p:cNvPr>
          <p:cNvSpPr>
            <a:spLocks noGrp="1"/>
          </p:cNvSpPr>
          <p:nvPr>
            <p:ph type="dt" sz="half" idx="10"/>
          </p:nvPr>
        </p:nvSpPr>
        <p:spPr/>
        <p:txBody>
          <a:bodyPr/>
          <a:lstStyle/>
          <a:p>
            <a:fld id="{322E4AA4-BEDE-CB44-B2CC-66E1D385BA6A}" type="datetimeFigureOut">
              <a:rPr lang="en-CN" smtClean="0"/>
              <a:t>2024/12/9</a:t>
            </a:fld>
            <a:endParaRPr lang="en-CN"/>
          </a:p>
        </p:txBody>
      </p:sp>
      <p:sp>
        <p:nvSpPr>
          <p:cNvPr id="6" name="Footer Placeholder 5">
            <a:extLst>
              <a:ext uri="{FF2B5EF4-FFF2-40B4-BE49-F238E27FC236}">
                <a16:creationId xmlns:a16="http://schemas.microsoft.com/office/drawing/2014/main" id="{FA08165A-EB64-F147-B7E8-1F7E88182CBD}"/>
              </a:ext>
            </a:extLst>
          </p:cNvPr>
          <p:cNvSpPr>
            <a:spLocks noGrp="1"/>
          </p:cNvSpPr>
          <p:nvPr>
            <p:ph type="ftr" sz="quarter" idx="11"/>
          </p:nvPr>
        </p:nvSpPr>
        <p:spPr/>
        <p:txBody>
          <a:bodyPr/>
          <a:lstStyle/>
          <a:p>
            <a:endParaRPr lang="en-CN"/>
          </a:p>
        </p:txBody>
      </p:sp>
      <p:sp>
        <p:nvSpPr>
          <p:cNvPr id="7" name="Slide Number Placeholder 6">
            <a:extLst>
              <a:ext uri="{FF2B5EF4-FFF2-40B4-BE49-F238E27FC236}">
                <a16:creationId xmlns:a16="http://schemas.microsoft.com/office/drawing/2014/main" id="{C4256665-B1D0-7447-8392-EC9FDC67EC44}"/>
              </a:ext>
            </a:extLst>
          </p:cNvPr>
          <p:cNvSpPr>
            <a:spLocks noGrp="1"/>
          </p:cNvSpPr>
          <p:nvPr>
            <p:ph type="sldNum" sz="quarter" idx="12"/>
          </p:nvPr>
        </p:nvSpPr>
        <p:spPr/>
        <p:txBody>
          <a:bodyPr/>
          <a:lstStyle/>
          <a:p>
            <a:fld id="{6D795B09-EF84-4B40-ABD6-33507B264A7C}" type="slidenum">
              <a:rPr lang="en-CN" smtClean="0"/>
              <a:t>‹#›</a:t>
            </a:fld>
            <a:endParaRPr lang="en-CN"/>
          </a:p>
        </p:txBody>
      </p:sp>
    </p:spTree>
    <p:extLst>
      <p:ext uri="{BB962C8B-B14F-4D97-AF65-F5344CB8AC3E}">
        <p14:creationId xmlns:p14="http://schemas.microsoft.com/office/powerpoint/2010/main" val="34992677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4CED74-159B-CA46-AF54-4B56C89FA6E3}"/>
              </a:ext>
            </a:extLst>
          </p:cNvPr>
          <p:cNvSpPr>
            <a:spLocks noGrp="1"/>
          </p:cNvSpPr>
          <p:nvPr>
            <p:ph type="title"/>
          </p:nvPr>
        </p:nvSpPr>
        <p:spPr/>
        <p:txBody>
          <a:bodyPr/>
          <a:lstStyle/>
          <a:p>
            <a:r>
              <a:rPr lang="en-US"/>
              <a:t>Click to edit Master title style</a:t>
            </a:r>
            <a:endParaRPr lang="en-CN"/>
          </a:p>
        </p:txBody>
      </p:sp>
      <p:sp>
        <p:nvSpPr>
          <p:cNvPr id="3" name="Vertical Text Placeholder 2">
            <a:extLst>
              <a:ext uri="{FF2B5EF4-FFF2-40B4-BE49-F238E27FC236}">
                <a16:creationId xmlns:a16="http://schemas.microsoft.com/office/drawing/2014/main" id="{8D4D69A4-2E32-BC4C-8B9B-474805F310C5}"/>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N"/>
          </a:p>
        </p:txBody>
      </p:sp>
      <p:sp>
        <p:nvSpPr>
          <p:cNvPr id="4" name="Date Placeholder 3">
            <a:extLst>
              <a:ext uri="{FF2B5EF4-FFF2-40B4-BE49-F238E27FC236}">
                <a16:creationId xmlns:a16="http://schemas.microsoft.com/office/drawing/2014/main" id="{9CEEF034-161E-ED4C-9362-B4EFB3021442}"/>
              </a:ext>
            </a:extLst>
          </p:cNvPr>
          <p:cNvSpPr>
            <a:spLocks noGrp="1"/>
          </p:cNvSpPr>
          <p:nvPr>
            <p:ph type="dt" sz="half" idx="10"/>
          </p:nvPr>
        </p:nvSpPr>
        <p:spPr/>
        <p:txBody>
          <a:bodyPr/>
          <a:lstStyle/>
          <a:p>
            <a:fld id="{322E4AA4-BEDE-CB44-B2CC-66E1D385BA6A}" type="datetimeFigureOut">
              <a:rPr lang="en-CN" smtClean="0"/>
              <a:t>2024/12/9</a:t>
            </a:fld>
            <a:endParaRPr lang="en-CN"/>
          </a:p>
        </p:txBody>
      </p:sp>
      <p:sp>
        <p:nvSpPr>
          <p:cNvPr id="5" name="Footer Placeholder 4">
            <a:extLst>
              <a:ext uri="{FF2B5EF4-FFF2-40B4-BE49-F238E27FC236}">
                <a16:creationId xmlns:a16="http://schemas.microsoft.com/office/drawing/2014/main" id="{995E2FFC-61D1-AD47-88E6-BE33A50C2614}"/>
              </a:ext>
            </a:extLst>
          </p:cNvPr>
          <p:cNvSpPr>
            <a:spLocks noGrp="1"/>
          </p:cNvSpPr>
          <p:nvPr>
            <p:ph type="ftr" sz="quarter" idx="11"/>
          </p:nvPr>
        </p:nvSpPr>
        <p:spPr/>
        <p:txBody>
          <a:bodyPr/>
          <a:lstStyle/>
          <a:p>
            <a:endParaRPr lang="en-CN"/>
          </a:p>
        </p:txBody>
      </p:sp>
      <p:sp>
        <p:nvSpPr>
          <p:cNvPr id="6" name="Slide Number Placeholder 5">
            <a:extLst>
              <a:ext uri="{FF2B5EF4-FFF2-40B4-BE49-F238E27FC236}">
                <a16:creationId xmlns:a16="http://schemas.microsoft.com/office/drawing/2014/main" id="{3960434D-72E7-A447-BF3A-B3400D3E486C}"/>
              </a:ext>
            </a:extLst>
          </p:cNvPr>
          <p:cNvSpPr>
            <a:spLocks noGrp="1"/>
          </p:cNvSpPr>
          <p:nvPr>
            <p:ph type="sldNum" sz="quarter" idx="12"/>
          </p:nvPr>
        </p:nvSpPr>
        <p:spPr/>
        <p:txBody>
          <a:bodyPr/>
          <a:lstStyle/>
          <a:p>
            <a:fld id="{6D795B09-EF84-4B40-ABD6-33507B264A7C}" type="slidenum">
              <a:rPr lang="en-CN" smtClean="0"/>
              <a:t>‹#›</a:t>
            </a:fld>
            <a:endParaRPr lang="en-CN"/>
          </a:p>
        </p:txBody>
      </p:sp>
    </p:spTree>
    <p:extLst>
      <p:ext uri="{BB962C8B-B14F-4D97-AF65-F5344CB8AC3E}">
        <p14:creationId xmlns:p14="http://schemas.microsoft.com/office/powerpoint/2010/main" val="99506685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4AB0986-56FD-9A46-86D9-263058D303A5}"/>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N"/>
          </a:p>
        </p:txBody>
      </p:sp>
      <p:sp>
        <p:nvSpPr>
          <p:cNvPr id="3" name="Vertical Text Placeholder 2">
            <a:extLst>
              <a:ext uri="{FF2B5EF4-FFF2-40B4-BE49-F238E27FC236}">
                <a16:creationId xmlns:a16="http://schemas.microsoft.com/office/drawing/2014/main" id="{D053A881-28AF-EC42-A693-C39F58F4E91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N"/>
          </a:p>
        </p:txBody>
      </p:sp>
      <p:sp>
        <p:nvSpPr>
          <p:cNvPr id="4" name="Date Placeholder 3">
            <a:extLst>
              <a:ext uri="{FF2B5EF4-FFF2-40B4-BE49-F238E27FC236}">
                <a16:creationId xmlns:a16="http://schemas.microsoft.com/office/drawing/2014/main" id="{C2948647-8D82-C047-994B-93D826A9243D}"/>
              </a:ext>
            </a:extLst>
          </p:cNvPr>
          <p:cNvSpPr>
            <a:spLocks noGrp="1"/>
          </p:cNvSpPr>
          <p:nvPr>
            <p:ph type="dt" sz="half" idx="10"/>
          </p:nvPr>
        </p:nvSpPr>
        <p:spPr/>
        <p:txBody>
          <a:bodyPr/>
          <a:lstStyle/>
          <a:p>
            <a:fld id="{322E4AA4-BEDE-CB44-B2CC-66E1D385BA6A}" type="datetimeFigureOut">
              <a:rPr lang="en-CN" smtClean="0"/>
              <a:t>2024/12/9</a:t>
            </a:fld>
            <a:endParaRPr lang="en-CN"/>
          </a:p>
        </p:txBody>
      </p:sp>
      <p:sp>
        <p:nvSpPr>
          <p:cNvPr id="5" name="Footer Placeholder 4">
            <a:extLst>
              <a:ext uri="{FF2B5EF4-FFF2-40B4-BE49-F238E27FC236}">
                <a16:creationId xmlns:a16="http://schemas.microsoft.com/office/drawing/2014/main" id="{40CEAF93-4EB6-A34C-876A-F8FB11838C04}"/>
              </a:ext>
            </a:extLst>
          </p:cNvPr>
          <p:cNvSpPr>
            <a:spLocks noGrp="1"/>
          </p:cNvSpPr>
          <p:nvPr>
            <p:ph type="ftr" sz="quarter" idx="11"/>
          </p:nvPr>
        </p:nvSpPr>
        <p:spPr/>
        <p:txBody>
          <a:bodyPr/>
          <a:lstStyle/>
          <a:p>
            <a:endParaRPr lang="en-CN"/>
          </a:p>
        </p:txBody>
      </p:sp>
      <p:sp>
        <p:nvSpPr>
          <p:cNvPr id="6" name="Slide Number Placeholder 5">
            <a:extLst>
              <a:ext uri="{FF2B5EF4-FFF2-40B4-BE49-F238E27FC236}">
                <a16:creationId xmlns:a16="http://schemas.microsoft.com/office/drawing/2014/main" id="{0021FF5A-6B7C-DD49-95E2-31113AF70068}"/>
              </a:ext>
            </a:extLst>
          </p:cNvPr>
          <p:cNvSpPr>
            <a:spLocks noGrp="1"/>
          </p:cNvSpPr>
          <p:nvPr>
            <p:ph type="sldNum" sz="quarter" idx="12"/>
          </p:nvPr>
        </p:nvSpPr>
        <p:spPr/>
        <p:txBody>
          <a:bodyPr/>
          <a:lstStyle/>
          <a:p>
            <a:fld id="{6D795B09-EF84-4B40-ABD6-33507B264A7C}" type="slidenum">
              <a:rPr lang="en-CN" smtClean="0"/>
              <a:t>‹#›</a:t>
            </a:fld>
            <a:endParaRPr lang="en-CN"/>
          </a:p>
        </p:txBody>
      </p:sp>
    </p:spTree>
    <p:extLst>
      <p:ext uri="{BB962C8B-B14F-4D97-AF65-F5344CB8AC3E}">
        <p14:creationId xmlns:p14="http://schemas.microsoft.com/office/powerpoint/2010/main" val="259713052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D20124B-EC56-C244-961E-84B7B9665CF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CN"/>
          </a:p>
        </p:txBody>
      </p:sp>
      <p:sp>
        <p:nvSpPr>
          <p:cNvPr id="3" name="Text Placeholder 2">
            <a:extLst>
              <a:ext uri="{FF2B5EF4-FFF2-40B4-BE49-F238E27FC236}">
                <a16:creationId xmlns:a16="http://schemas.microsoft.com/office/drawing/2014/main" id="{673C7A82-827E-C241-8D5C-3DCF664866D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N"/>
          </a:p>
        </p:txBody>
      </p:sp>
      <p:sp>
        <p:nvSpPr>
          <p:cNvPr id="4" name="Date Placeholder 3">
            <a:extLst>
              <a:ext uri="{FF2B5EF4-FFF2-40B4-BE49-F238E27FC236}">
                <a16:creationId xmlns:a16="http://schemas.microsoft.com/office/drawing/2014/main" id="{3321F4DE-C346-0241-BAF0-47749526F3D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322E4AA4-BEDE-CB44-B2CC-66E1D385BA6A}" type="datetimeFigureOut">
              <a:rPr lang="en-CN" smtClean="0"/>
              <a:t>2024/12/9</a:t>
            </a:fld>
            <a:endParaRPr lang="en-CN"/>
          </a:p>
        </p:txBody>
      </p:sp>
      <p:sp>
        <p:nvSpPr>
          <p:cNvPr id="5" name="Footer Placeholder 4">
            <a:extLst>
              <a:ext uri="{FF2B5EF4-FFF2-40B4-BE49-F238E27FC236}">
                <a16:creationId xmlns:a16="http://schemas.microsoft.com/office/drawing/2014/main" id="{73140BB8-F699-B74E-BDBD-9031752F630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CN"/>
          </a:p>
        </p:txBody>
      </p:sp>
      <p:sp>
        <p:nvSpPr>
          <p:cNvPr id="6" name="Slide Number Placeholder 5">
            <a:extLst>
              <a:ext uri="{FF2B5EF4-FFF2-40B4-BE49-F238E27FC236}">
                <a16:creationId xmlns:a16="http://schemas.microsoft.com/office/drawing/2014/main" id="{3029C3FE-78DE-DF42-B327-DA3E0554DEC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D795B09-EF84-4B40-ABD6-33507B264A7C}" type="slidenum">
              <a:rPr lang="en-CN" smtClean="0"/>
              <a:t>‹#›</a:t>
            </a:fld>
            <a:endParaRPr lang="en-CN"/>
          </a:p>
        </p:txBody>
      </p:sp>
    </p:spTree>
    <p:extLst>
      <p:ext uri="{BB962C8B-B14F-4D97-AF65-F5344CB8AC3E}">
        <p14:creationId xmlns:p14="http://schemas.microsoft.com/office/powerpoint/2010/main" val="19734134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ounded Rectangle 3">
            <a:extLst>
              <a:ext uri="{FF2B5EF4-FFF2-40B4-BE49-F238E27FC236}">
                <a16:creationId xmlns:a16="http://schemas.microsoft.com/office/drawing/2014/main" id="{C408DF36-512A-C146-9936-E78549573286}"/>
              </a:ext>
            </a:extLst>
          </p:cNvPr>
          <p:cNvSpPr/>
          <p:nvPr/>
        </p:nvSpPr>
        <p:spPr>
          <a:xfrm>
            <a:off x="829520" y="5329310"/>
            <a:ext cx="4436006" cy="854320"/>
          </a:xfrm>
          <a:prstGeom prst="roundRect">
            <a:avLst>
              <a:gd name="adj" fmla="val 0"/>
            </a:avLst>
          </a:prstGeom>
          <a:no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2400" b="1" i="1" dirty="0">
                <a:solidFill>
                  <a:srgbClr val="C00000"/>
                </a:solidFill>
                <a:latin typeface="Times New Roman" panose="02020603050405020304" pitchFamily="18" charset="0"/>
                <a:ea typeface="KaiTi" panose="02010609060101010101" pitchFamily="49" charset="-122"/>
                <a:cs typeface="Times New Roman" panose="02020603050405020304" pitchFamily="18" charset="0"/>
              </a:rPr>
              <a:t>PBOC</a:t>
            </a:r>
            <a:r>
              <a:rPr lang="zh-CN" altLang="en-US" sz="2400" b="1" i="1" dirty="0">
                <a:solidFill>
                  <a:srgbClr val="C00000"/>
                </a:solidFill>
                <a:latin typeface="Times New Roman" panose="02020603050405020304" pitchFamily="18" charset="0"/>
                <a:ea typeface="KaiTi" panose="02010609060101010101" pitchFamily="49" charset="-122"/>
                <a:cs typeface="Times New Roman" panose="02020603050405020304" pitchFamily="18" charset="0"/>
              </a:rPr>
              <a:t> </a:t>
            </a:r>
            <a:r>
              <a:rPr lang="en-US" altLang="zh-CN" sz="2400" b="1" i="1" dirty="0">
                <a:solidFill>
                  <a:srgbClr val="C00000"/>
                </a:solidFill>
                <a:latin typeface="Times New Roman" panose="02020603050405020304" pitchFamily="18" charset="0"/>
                <a:ea typeface="KaiTi" panose="02010609060101010101" pitchFamily="49" charset="-122"/>
                <a:cs typeface="Times New Roman" panose="02020603050405020304" pitchFamily="18" charset="0"/>
              </a:rPr>
              <a:t>Sept. 24th </a:t>
            </a:r>
          </a:p>
          <a:p>
            <a:pPr algn="ctr"/>
            <a:r>
              <a:rPr lang="en-US" altLang="zh-CN" sz="2400" b="1" i="1" dirty="0">
                <a:solidFill>
                  <a:srgbClr val="C00000"/>
                </a:solidFill>
                <a:latin typeface="Times New Roman" panose="02020603050405020304" pitchFamily="18" charset="0"/>
                <a:ea typeface="KaiTi" panose="02010609060101010101" pitchFamily="49" charset="-122"/>
                <a:cs typeface="Times New Roman" panose="02020603050405020304" pitchFamily="18" charset="0"/>
              </a:rPr>
              <a:t>Monetary Easing Package </a:t>
            </a:r>
            <a:endParaRPr lang="en-CN" sz="2400" b="1" i="1" dirty="0">
              <a:solidFill>
                <a:srgbClr val="C00000"/>
              </a:solidFill>
              <a:latin typeface="Times New Roman" panose="02020603050405020304" pitchFamily="18" charset="0"/>
              <a:ea typeface="KaiTi" panose="02010609060101010101" pitchFamily="49" charset="-122"/>
              <a:cs typeface="Times New Roman" panose="02020603050405020304" pitchFamily="18" charset="0"/>
            </a:endParaRPr>
          </a:p>
        </p:txBody>
      </p:sp>
      <p:sp>
        <p:nvSpPr>
          <p:cNvPr id="5" name="Rounded Rectangle 4">
            <a:extLst>
              <a:ext uri="{FF2B5EF4-FFF2-40B4-BE49-F238E27FC236}">
                <a16:creationId xmlns:a16="http://schemas.microsoft.com/office/drawing/2014/main" id="{A0F7C48F-7391-7C42-A19E-5F73406D9F83}"/>
              </a:ext>
            </a:extLst>
          </p:cNvPr>
          <p:cNvSpPr/>
          <p:nvPr/>
        </p:nvSpPr>
        <p:spPr>
          <a:xfrm>
            <a:off x="829519" y="776253"/>
            <a:ext cx="10532962" cy="1738347"/>
          </a:xfrm>
          <a:prstGeom prst="roundRect">
            <a:avLst>
              <a:gd name="adj" fmla="val 6972"/>
            </a:avLst>
          </a:prstGeom>
          <a:solidFill>
            <a:schemeClr val="accent6">
              <a:lumMod val="20000"/>
              <a:lumOff val="80000"/>
            </a:schemeClr>
          </a:solidFill>
          <a:ln w="19050">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altLang="zh-CN" b="1" dirty="0">
                <a:solidFill>
                  <a:schemeClr val="tx1"/>
                </a:solidFill>
                <a:latin typeface="Times New Roman" panose="02020603050405020304" pitchFamily="18" charset="0"/>
                <a:ea typeface="KaiTi" panose="02010609060101010101" pitchFamily="49" charset="-122"/>
                <a:cs typeface="Times New Roman" panose="02020603050405020304" pitchFamily="18" charset="0"/>
              </a:rPr>
              <a:t>Stock Market: Two Innovative Monetary Policy Tools 💵</a:t>
            </a:r>
            <a:endParaRPr lang="en-CN" b="1" i="1" dirty="0">
              <a:solidFill>
                <a:srgbClr val="C00000"/>
              </a:solidFill>
              <a:latin typeface="Times New Roman" panose="02020603050405020304" pitchFamily="18" charset="0"/>
              <a:ea typeface="KaiTi" panose="02010609060101010101" pitchFamily="49" charset="-122"/>
              <a:cs typeface="Times New Roman" panose="02020603050405020304" pitchFamily="18" charset="0"/>
            </a:endParaRPr>
          </a:p>
        </p:txBody>
      </p:sp>
      <p:sp>
        <p:nvSpPr>
          <p:cNvPr id="6" name="Rounded Rectangle 5">
            <a:extLst>
              <a:ext uri="{FF2B5EF4-FFF2-40B4-BE49-F238E27FC236}">
                <a16:creationId xmlns:a16="http://schemas.microsoft.com/office/drawing/2014/main" id="{C748A44E-4035-8C4C-928E-1038CF78B79B}"/>
              </a:ext>
            </a:extLst>
          </p:cNvPr>
          <p:cNvSpPr/>
          <p:nvPr/>
        </p:nvSpPr>
        <p:spPr>
          <a:xfrm>
            <a:off x="829520" y="2674620"/>
            <a:ext cx="4436006" cy="2494670"/>
          </a:xfrm>
          <a:prstGeom prst="roundRect">
            <a:avLst>
              <a:gd name="adj" fmla="val 5574"/>
            </a:avLst>
          </a:prstGeom>
          <a:solidFill>
            <a:schemeClr val="accent5">
              <a:lumMod val="20000"/>
              <a:lumOff val="80000"/>
            </a:schemeClr>
          </a:solidFill>
          <a:ln w="19050">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b="1" dirty="0">
                <a:solidFill>
                  <a:schemeClr val="tx1"/>
                </a:solidFill>
                <a:latin typeface="Times New Roman" panose="02020603050405020304" pitchFamily="18" charset="0"/>
                <a:ea typeface="KaiTi" panose="02010609060101010101" pitchFamily="49" charset="-122"/>
                <a:cs typeface="Times New Roman" panose="02020603050405020304" pitchFamily="18" charset="0"/>
              </a:rPr>
              <a:t>Money Market</a:t>
            </a:r>
            <a:r>
              <a:rPr lang="zh-CN" altLang="en-US" b="1" dirty="0">
                <a:solidFill>
                  <a:schemeClr val="tx1"/>
                </a:solidFill>
                <a:latin typeface="Times New Roman" panose="02020603050405020304" pitchFamily="18" charset="0"/>
                <a:ea typeface="KaiTi" panose="02010609060101010101" pitchFamily="49" charset="-122"/>
                <a:cs typeface="Times New Roman" panose="02020603050405020304" pitchFamily="18" charset="0"/>
              </a:rPr>
              <a:t> </a:t>
            </a:r>
            <a:r>
              <a:rPr lang="en-US" altLang="zh-CN" b="1" dirty="0">
                <a:solidFill>
                  <a:schemeClr val="tx1"/>
                </a:solidFill>
                <a:latin typeface="Times New Roman" panose="02020603050405020304" pitchFamily="18" charset="0"/>
                <a:ea typeface="KaiTi" panose="02010609060101010101" pitchFamily="49" charset="-122"/>
                <a:cs typeface="Times New Roman" panose="02020603050405020304" pitchFamily="18" charset="0"/>
              </a:rPr>
              <a:t>💰</a:t>
            </a:r>
            <a:endParaRPr lang="en-US" b="1" dirty="0">
              <a:solidFill>
                <a:schemeClr val="tx1"/>
              </a:solidFill>
              <a:latin typeface="Times New Roman" panose="02020603050405020304" pitchFamily="18" charset="0"/>
              <a:ea typeface="KaiTi" panose="02010609060101010101" pitchFamily="49" charset="-122"/>
              <a:cs typeface="Times New Roman" panose="02020603050405020304" pitchFamily="18" charset="0"/>
            </a:endParaRPr>
          </a:p>
        </p:txBody>
      </p:sp>
      <p:sp>
        <p:nvSpPr>
          <p:cNvPr id="9" name="Rounded Rectangle 8">
            <a:extLst>
              <a:ext uri="{FF2B5EF4-FFF2-40B4-BE49-F238E27FC236}">
                <a16:creationId xmlns:a16="http://schemas.microsoft.com/office/drawing/2014/main" id="{F1A0D57E-F596-244B-A106-8AE1CD07F25D}"/>
              </a:ext>
            </a:extLst>
          </p:cNvPr>
          <p:cNvSpPr/>
          <p:nvPr/>
        </p:nvSpPr>
        <p:spPr>
          <a:xfrm>
            <a:off x="951865" y="1284978"/>
            <a:ext cx="5079131" cy="1145841"/>
          </a:xfrm>
          <a:prstGeom prst="roundRect">
            <a:avLst>
              <a:gd name="adj" fmla="val 5837"/>
            </a:avLst>
          </a:prstGeom>
          <a:solidFill>
            <a:schemeClr val="accent6">
              <a:lumMod val="40000"/>
              <a:lumOff val="60000"/>
            </a:schemeClr>
          </a:solidFill>
          <a:ln w="19050">
            <a:solidFill>
              <a:schemeClr val="accent6">
                <a:lumMod val="5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a:r>
              <a:rPr lang="en-US" sz="1600" b="1" i="1" u="sng" dirty="0">
                <a:solidFill>
                  <a:srgbClr val="000000"/>
                </a:solidFill>
                <a:effectLst/>
                <a:latin typeface="Times New Roman" panose="02020603050405020304" pitchFamily="18" charset="0"/>
                <a:ea typeface="KaiTi" panose="02010609060101010101" pitchFamily="49" charset="-122"/>
                <a:cs typeface="Times New Roman" panose="02020603050405020304" pitchFamily="18" charset="0"/>
              </a:rPr>
              <a:t>SFISF:</a:t>
            </a:r>
            <a:r>
              <a:rPr lang="en-US" sz="1600" b="1" dirty="0">
                <a:solidFill>
                  <a:srgbClr val="000000"/>
                </a:solidFill>
                <a:effectLst/>
                <a:latin typeface="Times New Roman" panose="02020603050405020304" pitchFamily="18" charset="0"/>
                <a:ea typeface="KaiTi" panose="02010609060101010101" pitchFamily="49" charset="-122"/>
                <a:cs typeface="Times New Roman" panose="02020603050405020304" pitchFamily="18" charset="0"/>
              </a:rPr>
              <a:t> </a:t>
            </a:r>
            <a:r>
              <a:rPr lang="en-US" sz="1600" dirty="0">
                <a:solidFill>
                  <a:srgbClr val="000000"/>
                </a:solidFill>
                <a:effectLst/>
                <a:latin typeface="Times New Roman" panose="02020603050405020304" pitchFamily="18" charset="0"/>
                <a:ea typeface="KaiTi" panose="02010609060101010101" pitchFamily="49" charset="-122"/>
                <a:cs typeface="Times New Roman" panose="02020603050405020304" pitchFamily="18" charset="0"/>
              </a:rPr>
              <a:t>Supporting eligible institutions to obtain liquidity from the central bank through asset pledges, with an initial swap facility operation of 500 billion yuan.</a:t>
            </a:r>
          </a:p>
          <a:p>
            <a:pPr algn="just"/>
            <a:r>
              <a:rPr lang="en-US" altLang="zh-CN" sz="1600" b="1" i="1" dirty="0">
                <a:solidFill>
                  <a:srgbClr val="C00000"/>
                </a:solidFill>
                <a:latin typeface="Times New Roman" panose="02020603050405020304" pitchFamily="18" charset="0"/>
                <a:ea typeface="KaiTi" panose="02010609060101010101" pitchFamily="49" charset="-122"/>
                <a:cs typeface="Times New Roman" panose="02020603050405020304" pitchFamily="18" charset="0"/>
              </a:rPr>
              <a:t>(I will focus on analyzing this policy)</a:t>
            </a:r>
            <a:endParaRPr lang="en-CN" sz="1600" dirty="0">
              <a:latin typeface="Times New Roman" panose="02020603050405020304" pitchFamily="18" charset="0"/>
              <a:ea typeface="KaiTi" panose="02010609060101010101" pitchFamily="49" charset="-122"/>
              <a:cs typeface="Times New Roman" panose="02020603050405020304" pitchFamily="18" charset="0"/>
            </a:endParaRPr>
          </a:p>
        </p:txBody>
      </p:sp>
      <p:sp>
        <p:nvSpPr>
          <p:cNvPr id="11" name="Rounded Rectangle 10">
            <a:extLst>
              <a:ext uri="{FF2B5EF4-FFF2-40B4-BE49-F238E27FC236}">
                <a16:creationId xmlns:a16="http://schemas.microsoft.com/office/drawing/2014/main" id="{377FE554-D6E5-724E-924C-4449E20DBE26}"/>
              </a:ext>
            </a:extLst>
          </p:cNvPr>
          <p:cNvSpPr/>
          <p:nvPr/>
        </p:nvSpPr>
        <p:spPr>
          <a:xfrm>
            <a:off x="6161006" y="1284977"/>
            <a:ext cx="5079133" cy="1145841"/>
          </a:xfrm>
          <a:prstGeom prst="roundRect">
            <a:avLst>
              <a:gd name="adj" fmla="val 5837"/>
            </a:avLst>
          </a:prstGeom>
          <a:solidFill>
            <a:schemeClr val="accent6">
              <a:lumMod val="40000"/>
              <a:lumOff val="60000"/>
            </a:schemeClr>
          </a:solidFill>
          <a:ln w="19050">
            <a:solidFill>
              <a:schemeClr val="accent6">
                <a:lumMod val="5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a:r>
              <a:rPr lang="en-US" sz="1600" b="1" i="1" u="sng" dirty="0">
                <a:solidFill>
                  <a:srgbClr val="000000"/>
                </a:solidFill>
                <a:effectLst/>
                <a:latin typeface="Times New Roman" panose="02020603050405020304" pitchFamily="18" charset="0"/>
                <a:ea typeface="KaiTi" panose="02010609060101010101" pitchFamily="49" charset="-122"/>
                <a:cs typeface="Times New Roman" panose="02020603050405020304" pitchFamily="18" charset="0"/>
              </a:rPr>
              <a:t>LFSBIS:</a:t>
            </a:r>
            <a:r>
              <a:rPr lang="en-US" sz="1600" b="1" i="1" dirty="0">
                <a:solidFill>
                  <a:srgbClr val="000000"/>
                </a:solidFill>
                <a:effectLst/>
                <a:latin typeface="Times New Roman" panose="02020603050405020304" pitchFamily="18" charset="0"/>
                <a:ea typeface="KaiTi" panose="02010609060101010101" pitchFamily="49" charset="-122"/>
                <a:cs typeface="Times New Roman" panose="02020603050405020304" pitchFamily="18" charset="0"/>
              </a:rPr>
              <a:t> </a:t>
            </a:r>
            <a:r>
              <a:rPr lang="en-US" sz="1600" dirty="0">
                <a:solidFill>
                  <a:srgbClr val="000000"/>
                </a:solidFill>
                <a:effectLst/>
                <a:latin typeface="Times New Roman" panose="02020603050405020304" pitchFamily="18" charset="0"/>
                <a:ea typeface="KaiTi" panose="02010609060101010101" pitchFamily="49" charset="-122"/>
                <a:cs typeface="Times New Roman" panose="02020603050405020304" pitchFamily="18" charset="0"/>
              </a:rPr>
              <a:t>Guiding commercial banks to provide loans to listed companies and major shareholders to support the repurchase and increase the shareholding of listed companies, with an initial amount of 300 billion yuan. </a:t>
            </a:r>
            <a:endParaRPr lang="en-CN" sz="1600" dirty="0">
              <a:latin typeface="Times New Roman" panose="02020603050405020304" pitchFamily="18" charset="0"/>
              <a:ea typeface="KaiTi" panose="02010609060101010101" pitchFamily="49" charset="-122"/>
              <a:cs typeface="Times New Roman" panose="02020603050405020304" pitchFamily="18" charset="0"/>
            </a:endParaRPr>
          </a:p>
        </p:txBody>
      </p:sp>
      <p:sp>
        <p:nvSpPr>
          <p:cNvPr id="14" name="Rounded Rectangle 13">
            <a:extLst>
              <a:ext uri="{FF2B5EF4-FFF2-40B4-BE49-F238E27FC236}">
                <a16:creationId xmlns:a16="http://schemas.microsoft.com/office/drawing/2014/main" id="{61F2628D-B9FF-BE4C-B1B4-93CD8C682BB4}"/>
              </a:ext>
            </a:extLst>
          </p:cNvPr>
          <p:cNvSpPr/>
          <p:nvPr/>
        </p:nvSpPr>
        <p:spPr>
          <a:xfrm>
            <a:off x="951865" y="3162219"/>
            <a:ext cx="4180205" cy="1847053"/>
          </a:xfrm>
          <a:prstGeom prst="roundRect">
            <a:avLst>
              <a:gd name="adj" fmla="val 5837"/>
            </a:avLst>
          </a:prstGeom>
          <a:solidFill>
            <a:schemeClr val="accent5">
              <a:lumMod val="40000"/>
              <a:lumOff val="60000"/>
            </a:schemeClr>
          </a:solidFill>
          <a:ln w="19050">
            <a:solidFill>
              <a:schemeClr val="accent5">
                <a:lumMod val="5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just">
              <a:spcAft>
                <a:spcPts val="300"/>
              </a:spcAft>
              <a:buFont typeface="Wingdings" pitchFamily="2" charset="2"/>
              <a:buChar char="v"/>
            </a:pPr>
            <a:r>
              <a:rPr lang="en-US" sz="1600" b="1" i="1" u="sng" dirty="0">
                <a:solidFill>
                  <a:schemeClr val="tx1"/>
                </a:solidFill>
                <a:latin typeface="Times New Roman" panose="02020603050405020304" pitchFamily="18" charset="0"/>
                <a:ea typeface="KaiTi" panose="02010609060101010101" pitchFamily="49" charset="-122"/>
                <a:cs typeface="Times New Roman" panose="02020603050405020304" pitchFamily="18" charset="0"/>
              </a:rPr>
              <a:t>Volume Increase:</a:t>
            </a:r>
            <a:r>
              <a:rPr lang="en-US" sz="1600" dirty="0">
                <a:solidFill>
                  <a:schemeClr val="tx1"/>
                </a:solidFill>
                <a:latin typeface="Times New Roman" panose="02020603050405020304" pitchFamily="18" charset="0"/>
                <a:ea typeface="KaiTi" panose="02010609060101010101" pitchFamily="49" charset="-122"/>
                <a:cs typeface="Times New Roman" panose="02020603050405020304" pitchFamily="18" charset="0"/>
              </a:rPr>
              <a:t> RRR</a:t>
            </a:r>
            <a:r>
              <a:rPr lang="zh-CN" altLang="en-US" sz="1600" dirty="0">
                <a:solidFill>
                  <a:schemeClr val="tx1"/>
                </a:solidFill>
                <a:latin typeface="Times New Roman" panose="02020603050405020304" pitchFamily="18" charset="0"/>
                <a:ea typeface="KaiTi" panose="02010609060101010101" pitchFamily="49" charset="-122"/>
                <a:cs typeface="Times New Roman" panose="02020603050405020304" pitchFamily="18" charset="0"/>
              </a:rPr>
              <a:t> </a:t>
            </a:r>
            <a:r>
              <a:rPr lang="en-US" sz="1600" dirty="0">
                <a:solidFill>
                  <a:schemeClr val="tx1"/>
                </a:solidFill>
                <a:latin typeface="Times New Roman" panose="02020603050405020304" pitchFamily="18" charset="0"/>
                <a:ea typeface="KaiTi" panose="02010609060101010101" pitchFamily="49" charset="-122"/>
                <a:cs typeface="Times New Roman" panose="02020603050405020304" pitchFamily="18" charset="0"/>
              </a:rPr>
              <a:t>cut by 50 bp, releasing liquidity of around 1 trillion, with a possible second cut of 25-50 bp in </a:t>
            </a:r>
            <a:r>
              <a:rPr lang="en-US" altLang="zh-CN" sz="1600" dirty="0">
                <a:solidFill>
                  <a:schemeClr val="tx1"/>
                </a:solidFill>
                <a:latin typeface="Times New Roman" panose="02020603050405020304" pitchFamily="18" charset="0"/>
                <a:ea typeface="KaiTi" panose="02010609060101010101" pitchFamily="49" charset="-122"/>
                <a:cs typeface="Times New Roman" panose="02020603050405020304" pitchFamily="18" charset="0"/>
              </a:rPr>
              <a:t>2024</a:t>
            </a:r>
            <a:r>
              <a:rPr lang="en-US" sz="1600" dirty="0">
                <a:solidFill>
                  <a:schemeClr val="tx1"/>
                </a:solidFill>
                <a:latin typeface="Times New Roman" panose="02020603050405020304" pitchFamily="18" charset="0"/>
                <a:ea typeface="KaiTi" panose="02010609060101010101" pitchFamily="49" charset="-122"/>
                <a:cs typeface="Times New Roman" panose="02020603050405020304" pitchFamily="18" charset="0"/>
              </a:rPr>
              <a:t>.</a:t>
            </a:r>
          </a:p>
          <a:p>
            <a:pPr marL="285750" indent="-285750" algn="just">
              <a:spcAft>
                <a:spcPts val="300"/>
              </a:spcAft>
              <a:buFont typeface="Wingdings" pitchFamily="2" charset="2"/>
              <a:buChar char="v"/>
            </a:pPr>
            <a:r>
              <a:rPr lang="en-US" altLang="zh-CN" sz="1600" b="1" i="1" u="sng" dirty="0">
                <a:solidFill>
                  <a:schemeClr val="tx1"/>
                </a:solidFill>
                <a:latin typeface="Times New Roman" panose="02020603050405020304" pitchFamily="18" charset="0"/>
                <a:ea typeface="KaiTi" panose="02010609060101010101" pitchFamily="49" charset="-122"/>
                <a:cs typeface="Times New Roman" panose="02020603050405020304" pitchFamily="18" charset="0"/>
              </a:rPr>
              <a:t>Price</a:t>
            </a:r>
            <a:r>
              <a:rPr lang="zh-CN" altLang="en-US" sz="1600" b="1" i="1" u="sng" dirty="0">
                <a:solidFill>
                  <a:schemeClr val="tx1"/>
                </a:solidFill>
                <a:latin typeface="Times New Roman" panose="02020603050405020304" pitchFamily="18" charset="0"/>
                <a:ea typeface="KaiTi" panose="02010609060101010101" pitchFamily="49" charset="-122"/>
                <a:cs typeface="Times New Roman" panose="02020603050405020304" pitchFamily="18" charset="0"/>
              </a:rPr>
              <a:t> </a:t>
            </a:r>
            <a:r>
              <a:rPr lang="en-US" altLang="zh-CN" sz="1600" b="1" i="1" u="sng" dirty="0">
                <a:solidFill>
                  <a:schemeClr val="tx1"/>
                </a:solidFill>
                <a:latin typeface="Times New Roman" panose="02020603050405020304" pitchFamily="18" charset="0"/>
                <a:ea typeface="KaiTi" panose="02010609060101010101" pitchFamily="49" charset="-122"/>
                <a:cs typeface="Times New Roman" panose="02020603050405020304" pitchFamily="18" charset="0"/>
              </a:rPr>
              <a:t>Decrease:</a:t>
            </a:r>
            <a:r>
              <a:rPr lang="en-US" altLang="zh-CN" sz="1600" dirty="0">
                <a:solidFill>
                  <a:schemeClr val="tx1"/>
                </a:solidFill>
                <a:latin typeface="Times New Roman" panose="02020603050405020304" pitchFamily="18" charset="0"/>
                <a:ea typeface="KaiTi" panose="02010609060101010101" pitchFamily="49" charset="-122"/>
                <a:cs typeface="Times New Roman" panose="02020603050405020304" pitchFamily="18" charset="0"/>
              </a:rPr>
              <a:t> 7-day reverse repo rate cut by 20bp to 1.5%, MLF rate cut by 30bp to 2.0%, LPR and deposit rate cut by 20~25bp.</a:t>
            </a:r>
          </a:p>
        </p:txBody>
      </p:sp>
      <p:sp>
        <p:nvSpPr>
          <p:cNvPr id="15" name="Rounded Rectangle 14">
            <a:extLst>
              <a:ext uri="{FF2B5EF4-FFF2-40B4-BE49-F238E27FC236}">
                <a16:creationId xmlns:a16="http://schemas.microsoft.com/office/drawing/2014/main" id="{ACF74B08-0AC4-034B-A9E6-3C9660530D20}"/>
              </a:ext>
            </a:extLst>
          </p:cNvPr>
          <p:cNvSpPr/>
          <p:nvPr/>
        </p:nvSpPr>
        <p:spPr>
          <a:xfrm>
            <a:off x="5381837" y="2674619"/>
            <a:ext cx="5980643" cy="3509011"/>
          </a:xfrm>
          <a:prstGeom prst="roundRect">
            <a:avLst>
              <a:gd name="adj" fmla="val 5574"/>
            </a:avLst>
          </a:prstGeom>
          <a:solidFill>
            <a:schemeClr val="accent2">
              <a:lumMod val="20000"/>
              <a:lumOff val="80000"/>
            </a:schemeClr>
          </a:solidFill>
          <a:ln w="19050">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b="1" dirty="0">
                <a:solidFill>
                  <a:schemeClr val="tx1"/>
                </a:solidFill>
                <a:latin typeface="Times New Roman" panose="02020603050405020304" pitchFamily="18" charset="0"/>
                <a:ea typeface="KaiTi" panose="02010609060101010101" pitchFamily="49" charset="-122"/>
                <a:cs typeface="Times New Roman" panose="02020603050405020304" pitchFamily="18" charset="0"/>
              </a:rPr>
              <a:t>Real Estate Market</a:t>
            </a:r>
            <a:r>
              <a:rPr lang="zh-CN" altLang="en-US" b="1" dirty="0">
                <a:solidFill>
                  <a:schemeClr val="tx1"/>
                </a:solidFill>
                <a:latin typeface="Times New Roman" panose="02020603050405020304" pitchFamily="18" charset="0"/>
                <a:ea typeface="KaiTi" panose="02010609060101010101" pitchFamily="49" charset="-122"/>
                <a:cs typeface="Times New Roman" panose="02020603050405020304" pitchFamily="18" charset="0"/>
              </a:rPr>
              <a:t> </a:t>
            </a:r>
            <a:r>
              <a:rPr lang="en-US" altLang="zh-CN" b="1" dirty="0">
                <a:solidFill>
                  <a:schemeClr val="tx1"/>
                </a:solidFill>
                <a:latin typeface="Times New Roman" panose="02020603050405020304" pitchFamily="18" charset="0"/>
                <a:ea typeface="KaiTi" panose="02010609060101010101" pitchFamily="49" charset="-122"/>
                <a:cs typeface="Times New Roman" panose="02020603050405020304" pitchFamily="18" charset="0"/>
              </a:rPr>
              <a:t>🏠</a:t>
            </a:r>
            <a:endParaRPr lang="en-US" b="1" dirty="0">
              <a:solidFill>
                <a:schemeClr val="tx1"/>
              </a:solidFill>
              <a:latin typeface="Times New Roman" panose="02020603050405020304" pitchFamily="18" charset="0"/>
              <a:ea typeface="KaiTi" panose="02010609060101010101" pitchFamily="49" charset="-122"/>
              <a:cs typeface="Times New Roman" panose="02020603050405020304" pitchFamily="18" charset="0"/>
            </a:endParaRPr>
          </a:p>
        </p:txBody>
      </p:sp>
      <p:sp>
        <p:nvSpPr>
          <p:cNvPr id="16" name="Rounded Rectangle 15">
            <a:extLst>
              <a:ext uri="{FF2B5EF4-FFF2-40B4-BE49-F238E27FC236}">
                <a16:creationId xmlns:a16="http://schemas.microsoft.com/office/drawing/2014/main" id="{2527A65A-DCE5-574D-B286-58A445C7D0BA}"/>
              </a:ext>
            </a:extLst>
          </p:cNvPr>
          <p:cNvSpPr/>
          <p:nvPr/>
        </p:nvSpPr>
        <p:spPr>
          <a:xfrm>
            <a:off x="5474812" y="3162219"/>
            <a:ext cx="5759768" cy="2877700"/>
          </a:xfrm>
          <a:prstGeom prst="roundRect">
            <a:avLst>
              <a:gd name="adj" fmla="val 5837"/>
            </a:avLst>
          </a:prstGeom>
          <a:solidFill>
            <a:schemeClr val="accent2">
              <a:lumMod val="40000"/>
              <a:lumOff val="60000"/>
            </a:schemeClr>
          </a:solidFill>
          <a:ln w="19050">
            <a:solidFill>
              <a:schemeClr val="accent2">
                <a:lumMod val="5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just">
              <a:spcAft>
                <a:spcPts val="300"/>
              </a:spcAft>
              <a:buFont typeface="Wingdings" pitchFamily="2" charset="2"/>
              <a:buChar char="v"/>
            </a:pPr>
            <a:r>
              <a:rPr lang="en-US" sz="1600" b="1" i="1" u="sng" dirty="0">
                <a:solidFill>
                  <a:schemeClr val="tx1"/>
                </a:solidFill>
                <a:latin typeface="Times New Roman" panose="02020603050405020304" pitchFamily="18" charset="0"/>
                <a:ea typeface="KaiTi" panose="02010609060101010101" pitchFamily="49" charset="-122"/>
                <a:cs typeface="Times New Roman" panose="02020603050405020304" pitchFamily="18" charset="0"/>
              </a:rPr>
              <a:t>Reducing interest rates </a:t>
            </a:r>
            <a:r>
              <a:rPr lang="en-US" sz="1600" dirty="0">
                <a:solidFill>
                  <a:schemeClr val="tx1"/>
                </a:solidFill>
                <a:latin typeface="Times New Roman" panose="02020603050405020304" pitchFamily="18" charset="0"/>
                <a:ea typeface="KaiTi" panose="02010609060101010101" pitchFamily="49" charset="-122"/>
                <a:cs typeface="Times New Roman" panose="02020603050405020304" pitchFamily="18" charset="0"/>
              </a:rPr>
              <a:t>on stock mortgages to near the rate for new originations, expected to average about 0.5%. </a:t>
            </a:r>
          </a:p>
          <a:p>
            <a:pPr marL="285750" indent="-285750" algn="just">
              <a:spcAft>
                <a:spcPts val="300"/>
              </a:spcAft>
              <a:buFont typeface="Wingdings" pitchFamily="2" charset="2"/>
              <a:buChar char="v"/>
            </a:pPr>
            <a:r>
              <a:rPr lang="en-US" sz="1600" b="1" i="1" u="sng" dirty="0">
                <a:solidFill>
                  <a:schemeClr val="tx1"/>
                </a:solidFill>
                <a:latin typeface="Times New Roman" panose="02020603050405020304" pitchFamily="18" charset="0"/>
                <a:ea typeface="KaiTi" panose="02010609060101010101" pitchFamily="49" charset="-122"/>
                <a:cs typeface="Times New Roman" panose="02020603050405020304" pitchFamily="18" charset="0"/>
              </a:rPr>
              <a:t>Lowering</a:t>
            </a:r>
            <a:r>
              <a:rPr lang="en-US" sz="1600" dirty="0">
                <a:solidFill>
                  <a:schemeClr val="tx1"/>
                </a:solidFill>
                <a:latin typeface="Times New Roman" panose="02020603050405020304" pitchFamily="18" charset="0"/>
                <a:ea typeface="KaiTi" panose="02010609060101010101" pitchFamily="49" charset="-122"/>
                <a:cs typeface="Times New Roman" panose="02020603050405020304" pitchFamily="18" charset="0"/>
              </a:rPr>
              <a:t> the minimum down payment ratio for second-suite loans from 25% to 15%.</a:t>
            </a:r>
          </a:p>
          <a:p>
            <a:pPr marL="285750" indent="-285750" algn="just">
              <a:spcAft>
                <a:spcPts val="300"/>
              </a:spcAft>
              <a:buFont typeface="Wingdings" pitchFamily="2" charset="2"/>
              <a:buChar char="v"/>
            </a:pPr>
            <a:r>
              <a:rPr lang="en-US" sz="1600" dirty="0">
                <a:solidFill>
                  <a:schemeClr val="tx1"/>
                </a:solidFill>
                <a:latin typeface="Times New Roman" panose="02020603050405020304" pitchFamily="18" charset="0"/>
                <a:ea typeface="KaiTi" panose="02010609060101010101" pitchFamily="49" charset="-122"/>
                <a:cs typeface="Times New Roman" panose="02020603050405020304" pitchFamily="18" charset="0"/>
              </a:rPr>
              <a:t>The proportion of central bank funding support in the previously created 300 billion yuan guaranteed housing refinancing will be </a:t>
            </a:r>
            <a:r>
              <a:rPr lang="en-US" sz="1600" b="1" i="1" u="sng" dirty="0">
                <a:solidFill>
                  <a:schemeClr val="tx1"/>
                </a:solidFill>
                <a:latin typeface="Times New Roman" panose="02020603050405020304" pitchFamily="18" charset="0"/>
                <a:ea typeface="KaiTi" panose="02010609060101010101" pitchFamily="49" charset="-122"/>
                <a:cs typeface="Times New Roman" panose="02020603050405020304" pitchFamily="18" charset="0"/>
              </a:rPr>
              <a:t>increased from 60% to 100%</a:t>
            </a:r>
            <a:r>
              <a:rPr lang="en-US" sz="1600" dirty="0">
                <a:solidFill>
                  <a:schemeClr val="tx1"/>
                </a:solidFill>
                <a:latin typeface="Times New Roman" panose="02020603050405020304" pitchFamily="18" charset="0"/>
                <a:ea typeface="KaiTi" panose="02010609060101010101" pitchFamily="49" charset="-122"/>
                <a:cs typeface="Times New Roman" panose="02020603050405020304" pitchFamily="18" charset="0"/>
              </a:rPr>
              <a:t>.</a:t>
            </a:r>
          </a:p>
          <a:p>
            <a:pPr marL="285750" indent="-285750" algn="just">
              <a:spcAft>
                <a:spcPts val="300"/>
              </a:spcAft>
              <a:buFont typeface="Wingdings" pitchFamily="2" charset="2"/>
              <a:buChar char="v"/>
            </a:pPr>
            <a:r>
              <a:rPr lang="en-US" sz="1600" b="1" i="1" u="sng" dirty="0">
                <a:solidFill>
                  <a:schemeClr val="tx1"/>
                </a:solidFill>
                <a:latin typeface="Times New Roman" panose="02020603050405020304" pitchFamily="18" charset="0"/>
                <a:ea typeface="KaiTi" panose="02010609060101010101" pitchFamily="49" charset="-122"/>
                <a:cs typeface="Times New Roman" panose="02020603050405020304" pitchFamily="18" charset="0"/>
              </a:rPr>
              <a:t>Extension</a:t>
            </a:r>
            <a:r>
              <a:rPr lang="en-US" sz="1600" dirty="0">
                <a:solidFill>
                  <a:schemeClr val="tx1"/>
                </a:solidFill>
                <a:latin typeface="Times New Roman" panose="02020603050405020304" pitchFamily="18" charset="0"/>
                <a:ea typeface="KaiTi" panose="02010609060101010101" pitchFamily="49" charset="-122"/>
                <a:cs typeface="Times New Roman" panose="02020603050405020304" pitchFamily="18" charset="0"/>
              </a:rPr>
              <a:t> of phased policies on the roll-over of inventory financing for real estate enterprises and loans for operating properties until the end of 2026</a:t>
            </a:r>
            <a:r>
              <a:rPr lang="en-US" altLang="zh-CN" sz="1600" dirty="0">
                <a:solidFill>
                  <a:schemeClr val="tx1"/>
                </a:solidFill>
                <a:latin typeface="Times New Roman" panose="02020603050405020304" pitchFamily="18" charset="0"/>
                <a:ea typeface="KaiTi" panose="02010609060101010101" pitchFamily="49" charset="-122"/>
                <a:cs typeface="Times New Roman" panose="02020603050405020304" pitchFamily="18" charset="0"/>
              </a:rPr>
              <a:t>.</a:t>
            </a:r>
            <a:endParaRPr lang="en-US" sz="1600" dirty="0">
              <a:solidFill>
                <a:schemeClr val="tx1"/>
              </a:solidFill>
              <a:latin typeface="Times New Roman" panose="02020603050405020304" pitchFamily="18" charset="0"/>
              <a:ea typeface="KaiTi" panose="02010609060101010101" pitchFamily="49" charset="-122"/>
              <a:cs typeface="Times New Roman" panose="02020603050405020304" pitchFamily="18" charset="0"/>
            </a:endParaRPr>
          </a:p>
        </p:txBody>
      </p:sp>
      <p:sp>
        <p:nvSpPr>
          <p:cNvPr id="17" name="Sun 16">
            <a:extLst>
              <a:ext uri="{FF2B5EF4-FFF2-40B4-BE49-F238E27FC236}">
                <a16:creationId xmlns:a16="http://schemas.microsoft.com/office/drawing/2014/main" id="{2C01EC1C-B5DD-8C48-82BE-DAAD5CD1111F}"/>
              </a:ext>
            </a:extLst>
          </p:cNvPr>
          <p:cNvSpPr/>
          <p:nvPr/>
        </p:nvSpPr>
        <p:spPr>
          <a:xfrm>
            <a:off x="5580482" y="1980305"/>
            <a:ext cx="450514" cy="450514"/>
          </a:xfrm>
          <a:prstGeom prst="sun">
            <a:avLst/>
          </a:prstGeom>
          <a:solidFill>
            <a:srgbClr val="C00000"/>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N"/>
          </a:p>
        </p:txBody>
      </p:sp>
    </p:spTree>
    <p:extLst>
      <p:ext uri="{BB962C8B-B14F-4D97-AF65-F5344CB8AC3E}">
        <p14:creationId xmlns:p14="http://schemas.microsoft.com/office/powerpoint/2010/main" val="346519268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6239B50-8E64-4A42-A81C-147CDEA846C1}"/>
              </a:ext>
            </a:extLst>
          </p:cNvPr>
          <p:cNvSpPr/>
          <p:nvPr/>
        </p:nvSpPr>
        <p:spPr>
          <a:xfrm>
            <a:off x="266218" y="2369241"/>
            <a:ext cx="2550289" cy="646495"/>
          </a:xfrm>
          <a:prstGeom prst="rect">
            <a:avLst/>
          </a:prstGeom>
          <a:solidFill>
            <a:schemeClr val="accent6">
              <a:lumMod val="20000"/>
              <a:lumOff val="80000"/>
            </a:schemeClr>
          </a:solidFill>
          <a:ln w="19050">
            <a:solidFill>
              <a:schemeClr val="tx1"/>
            </a:solidFill>
            <a:prstDash val="dash"/>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N" b="1" dirty="0">
                <a:solidFill>
                  <a:schemeClr val="tx1"/>
                </a:solidFill>
                <a:latin typeface="Times New Roman" panose="02020603050405020304" pitchFamily="18" charset="0"/>
                <a:cs typeface="Times New Roman" panose="02020603050405020304" pitchFamily="18" charset="0"/>
              </a:rPr>
              <a:t>PBOC</a:t>
            </a:r>
          </a:p>
        </p:txBody>
      </p:sp>
      <p:sp>
        <p:nvSpPr>
          <p:cNvPr id="6" name="Rectangle 5">
            <a:extLst>
              <a:ext uri="{FF2B5EF4-FFF2-40B4-BE49-F238E27FC236}">
                <a16:creationId xmlns:a16="http://schemas.microsoft.com/office/drawing/2014/main" id="{DE7DD7D9-714D-7E46-8E93-175F36825184}"/>
              </a:ext>
            </a:extLst>
          </p:cNvPr>
          <p:cNvSpPr/>
          <p:nvPr/>
        </p:nvSpPr>
        <p:spPr>
          <a:xfrm>
            <a:off x="4820854" y="2369241"/>
            <a:ext cx="2550289" cy="646495"/>
          </a:xfrm>
          <a:prstGeom prst="rect">
            <a:avLst/>
          </a:prstGeom>
          <a:solidFill>
            <a:schemeClr val="accent6">
              <a:lumMod val="20000"/>
              <a:lumOff val="80000"/>
            </a:schemeClr>
          </a:solidFill>
          <a:ln w="19050">
            <a:solidFill>
              <a:schemeClr val="tx1"/>
            </a:solidFill>
            <a:prstDash val="dash"/>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800" b="1" dirty="0">
                <a:solidFill>
                  <a:srgbClr val="000000"/>
                </a:solidFill>
                <a:effectLst/>
                <a:latin typeface="Times New Roman" panose="02020603050405020304" pitchFamily="18" charset="0"/>
                <a:ea typeface="KaiTi" panose="02010609060101010101" pitchFamily="49" charset="-122"/>
              </a:rPr>
              <a:t>Securities, Funds and Insurance Companies</a:t>
            </a:r>
            <a:r>
              <a:rPr lang="en-CN" b="1" dirty="0">
                <a:effectLst/>
              </a:rPr>
              <a:t> </a:t>
            </a:r>
            <a:endParaRPr lang="en-CN" b="1" dirty="0">
              <a:solidFill>
                <a:schemeClr val="tx1"/>
              </a:solidFill>
              <a:latin typeface="Times New Roman" panose="02020603050405020304" pitchFamily="18" charset="0"/>
              <a:cs typeface="Times New Roman" panose="02020603050405020304" pitchFamily="18" charset="0"/>
            </a:endParaRPr>
          </a:p>
        </p:txBody>
      </p:sp>
      <p:sp>
        <p:nvSpPr>
          <p:cNvPr id="7" name="Rectangle 6">
            <a:extLst>
              <a:ext uri="{FF2B5EF4-FFF2-40B4-BE49-F238E27FC236}">
                <a16:creationId xmlns:a16="http://schemas.microsoft.com/office/drawing/2014/main" id="{77F556E3-E4A0-2148-8113-600CB583AA59}"/>
              </a:ext>
            </a:extLst>
          </p:cNvPr>
          <p:cNvSpPr/>
          <p:nvPr/>
        </p:nvSpPr>
        <p:spPr>
          <a:xfrm>
            <a:off x="9375490" y="2369240"/>
            <a:ext cx="2550289" cy="646495"/>
          </a:xfrm>
          <a:prstGeom prst="rect">
            <a:avLst/>
          </a:prstGeom>
          <a:solidFill>
            <a:schemeClr val="accent6">
              <a:lumMod val="20000"/>
              <a:lumOff val="80000"/>
            </a:schemeClr>
          </a:solidFill>
          <a:ln w="19050">
            <a:solidFill>
              <a:schemeClr val="tx1"/>
            </a:solidFill>
            <a:prstDash val="dash"/>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Times New Roman" panose="02020603050405020304" pitchFamily="18" charset="0"/>
                <a:cs typeface="Times New Roman" panose="02020603050405020304" pitchFamily="18" charset="0"/>
              </a:rPr>
              <a:t>Secondary Market</a:t>
            </a:r>
            <a:endParaRPr lang="en-CN" b="1" dirty="0">
              <a:solidFill>
                <a:schemeClr val="tx1"/>
              </a:solidFill>
              <a:latin typeface="Times New Roman" panose="02020603050405020304" pitchFamily="18" charset="0"/>
              <a:cs typeface="Times New Roman" panose="02020603050405020304" pitchFamily="18" charset="0"/>
            </a:endParaRPr>
          </a:p>
        </p:txBody>
      </p:sp>
      <p:sp>
        <p:nvSpPr>
          <p:cNvPr id="8" name="Rectangle 7">
            <a:extLst>
              <a:ext uri="{FF2B5EF4-FFF2-40B4-BE49-F238E27FC236}">
                <a16:creationId xmlns:a16="http://schemas.microsoft.com/office/drawing/2014/main" id="{4BD00138-F6BD-7748-8964-B4B38EEE0839}"/>
              </a:ext>
            </a:extLst>
          </p:cNvPr>
          <p:cNvSpPr/>
          <p:nvPr/>
        </p:nvSpPr>
        <p:spPr>
          <a:xfrm>
            <a:off x="4820854" y="4247112"/>
            <a:ext cx="2550289" cy="646495"/>
          </a:xfrm>
          <a:prstGeom prst="rect">
            <a:avLst/>
          </a:prstGeom>
          <a:solidFill>
            <a:schemeClr val="accent6">
              <a:lumMod val="20000"/>
              <a:lumOff val="80000"/>
            </a:schemeClr>
          </a:solidFill>
          <a:ln w="19050">
            <a:solidFill>
              <a:schemeClr val="tx1"/>
            </a:solidFill>
            <a:prstDash val="dash"/>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N" b="1" dirty="0">
                <a:solidFill>
                  <a:schemeClr val="tx1"/>
                </a:solidFill>
                <a:latin typeface="Times New Roman" panose="02020603050405020304" pitchFamily="18" charset="0"/>
                <a:cs typeface="Times New Roman" panose="02020603050405020304" pitchFamily="18" charset="0"/>
              </a:rPr>
              <a:t>Stock Market</a:t>
            </a:r>
          </a:p>
        </p:txBody>
      </p:sp>
      <p:grpSp>
        <p:nvGrpSpPr>
          <p:cNvPr id="12" name="Group 11">
            <a:extLst>
              <a:ext uri="{FF2B5EF4-FFF2-40B4-BE49-F238E27FC236}">
                <a16:creationId xmlns:a16="http://schemas.microsoft.com/office/drawing/2014/main" id="{B9C4FD50-A12F-3D44-B63F-69BB9299723E}"/>
              </a:ext>
            </a:extLst>
          </p:cNvPr>
          <p:cNvGrpSpPr/>
          <p:nvPr/>
        </p:nvGrpSpPr>
        <p:grpSpPr>
          <a:xfrm>
            <a:off x="2816506" y="2550113"/>
            <a:ext cx="2004348" cy="284748"/>
            <a:chOff x="2816506" y="3398002"/>
            <a:chExt cx="2004348" cy="284748"/>
          </a:xfrm>
        </p:grpSpPr>
        <p:cxnSp>
          <p:nvCxnSpPr>
            <p:cNvPr id="10" name="Straight Arrow Connector 9">
              <a:extLst>
                <a:ext uri="{FF2B5EF4-FFF2-40B4-BE49-F238E27FC236}">
                  <a16:creationId xmlns:a16="http://schemas.microsoft.com/office/drawing/2014/main" id="{F22876C3-B594-F044-AD59-0013DCEE5E93}"/>
                </a:ext>
              </a:extLst>
            </p:cNvPr>
            <p:cNvCxnSpPr>
              <a:cxnSpLocks/>
            </p:cNvCxnSpPr>
            <p:nvPr/>
          </p:nvCxnSpPr>
          <p:spPr>
            <a:xfrm>
              <a:off x="2816507" y="3398002"/>
              <a:ext cx="2004347" cy="0"/>
            </a:xfrm>
            <a:prstGeom prst="straightConnector1">
              <a:avLst/>
            </a:prstGeom>
            <a:ln w="15875">
              <a:solidFill>
                <a:schemeClr val="accent2"/>
              </a:solidFill>
              <a:tailEnd type="stealth" w="lg" len="lg"/>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CA252B74-7F7E-0D42-B6A0-2BB0273C3B5C}"/>
                </a:ext>
              </a:extLst>
            </p:cNvPr>
            <p:cNvCxnSpPr>
              <a:cxnSpLocks/>
            </p:cNvCxnSpPr>
            <p:nvPr/>
          </p:nvCxnSpPr>
          <p:spPr>
            <a:xfrm>
              <a:off x="2816506" y="3682750"/>
              <a:ext cx="2004347" cy="0"/>
            </a:xfrm>
            <a:prstGeom prst="straightConnector1">
              <a:avLst/>
            </a:prstGeom>
            <a:ln w="15875">
              <a:solidFill>
                <a:schemeClr val="accent2"/>
              </a:solidFill>
              <a:headEnd type="stealth" w="lg" len="lg"/>
              <a:tailEnd type="none" w="lg" len="lg"/>
            </a:ln>
          </p:spPr>
          <p:style>
            <a:lnRef idx="1">
              <a:schemeClr val="accent1"/>
            </a:lnRef>
            <a:fillRef idx="0">
              <a:schemeClr val="accent1"/>
            </a:fillRef>
            <a:effectRef idx="0">
              <a:schemeClr val="accent1"/>
            </a:effectRef>
            <a:fontRef idx="minor">
              <a:schemeClr val="tx1"/>
            </a:fontRef>
          </p:style>
        </p:cxnSp>
      </p:grpSp>
      <p:sp>
        <p:nvSpPr>
          <p:cNvPr id="14" name="TextBox 13">
            <a:extLst>
              <a:ext uri="{FF2B5EF4-FFF2-40B4-BE49-F238E27FC236}">
                <a16:creationId xmlns:a16="http://schemas.microsoft.com/office/drawing/2014/main" id="{505F4F6C-3628-3B46-B4EA-1B2C32EC03F8}"/>
              </a:ext>
            </a:extLst>
          </p:cNvPr>
          <p:cNvSpPr txBox="1"/>
          <p:nvPr/>
        </p:nvSpPr>
        <p:spPr>
          <a:xfrm>
            <a:off x="2816504" y="1965526"/>
            <a:ext cx="2004347" cy="584775"/>
          </a:xfrm>
          <a:prstGeom prst="rect">
            <a:avLst/>
          </a:prstGeom>
          <a:noFill/>
        </p:spPr>
        <p:txBody>
          <a:bodyPr wrap="square">
            <a:spAutoFit/>
          </a:bodyPr>
          <a:lstStyle/>
          <a:p>
            <a:pPr algn="ctr"/>
            <a:r>
              <a:rPr lang="en-US" sz="1600" i="1" dirty="0">
                <a:solidFill>
                  <a:schemeClr val="accent2"/>
                </a:solidFill>
                <a:effectLst/>
                <a:latin typeface="Times New Roman" panose="02020603050405020304" pitchFamily="18" charset="0"/>
                <a:ea typeface="KaiTi" panose="02010609060101010101" pitchFamily="49" charset="-122"/>
              </a:rPr>
              <a:t>Treasury bonds and central bank bills</a:t>
            </a:r>
            <a:r>
              <a:rPr lang="en-CN" sz="1600" i="1" dirty="0">
                <a:solidFill>
                  <a:schemeClr val="accent2"/>
                </a:solidFill>
                <a:effectLst/>
              </a:rPr>
              <a:t> </a:t>
            </a:r>
            <a:endParaRPr lang="en-CN" sz="1600" i="1" dirty="0">
              <a:solidFill>
                <a:schemeClr val="accent2"/>
              </a:solidFill>
            </a:endParaRPr>
          </a:p>
        </p:txBody>
      </p:sp>
      <p:sp>
        <p:nvSpPr>
          <p:cNvPr id="16" name="TextBox 15">
            <a:extLst>
              <a:ext uri="{FF2B5EF4-FFF2-40B4-BE49-F238E27FC236}">
                <a16:creationId xmlns:a16="http://schemas.microsoft.com/office/drawing/2014/main" id="{2020FC83-2743-FD42-83EE-82A133B1C2BB}"/>
              </a:ext>
            </a:extLst>
          </p:cNvPr>
          <p:cNvSpPr txBox="1"/>
          <p:nvPr/>
        </p:nvSpPr>
        <p:spPr>
          <a:xfrm>
            <a:off x="2815702" y="2844575"/>
            <a:ext cx="2004347" cy="584775"/>
          </a:xfrm>
          <a:prstGeom prst="rect">
            <a:avLst/>
          </a:prstGeom>
          <a:noFill/>
        </p:spPr>
        <p:txBody>
          <a:bodyPr wrap="square">
            <a:spAutoFit/>
          </a:bodyPr>
          <a:lstStyle/>
          <a:p>
            <a:pPr algn="ctr"/>
            <a:r>
              <a:rPr lang="en-US" sz="1600" i="1" dirty="0">
                <a:solidFill>
                  <a:schemeClr val="accent2"/>
                </a:solidFill>
                <a:latin typeface="Times New Roman" panose="02020603050405020304" pitchFamily="18" charset="0"/>
                <a:ea typeface="KaiTi" panose="02010609060101010101" pitchFamily="49" charset="-122"/>
              </a:rPr>
              <a:t>B</a:t>
            </a:r>
            <a:r>
              <a:rPr lang="en-US" sz="1600" i="1" dirty="0">
                <a:solidFill>
                  <a:schemeClr val="accent2"/>
                </a:solidFill>
                <a:effectLst/>
                <a:latin typeface="Times New Roman" panose="02020603050405020304" pitchFamily="18" charset="0"/>
                <a:ea typeface="KaiTi" panose="02010609060101010101" pitchFamily="49" charset="-122"/>
              </a:rPr>
              <a:t>onds, Stock ETFs and CSI 300 stocks</a:t>
            </a:r>
            <a:r>
              <a:rPr lang="en-CN" sz="1600" i="1" dirty="0">
                <a:solidFill>
                  <a:schemeClr val="accent2"/>
                </a:solidFill>
                <a:effectLst/>
              </a:rPr>
              <a:t> </a:t>
            </a:r>
            <a:endParaRPr lang="en-CN" sz="1600" i="1" dirty="0">
              <a:solidFill>
                <a:schemeClr val="accent2"/>
              </a:solidFill>
            </a:endParaRPr>
          </a:p>
        </p:txBody>
      </p:sp>
      <p:grpSp>
        <p:nvGrpSpPr>
          <p:cNvPr id="17" name="Group 16">
            <a:extLst>
              <a:ext uri="{FF2B5EF4-FFF2-40B4-BE49-F238E27FC236}">
                <a16:creationId xmlns:a16="http://schemas.microsoft.com/office/drawing/2014/main" id="{8F2DFFBF-98E0-E34F-97BA-C88E4A45095E}"/>
              </a:ext>
            </a:extLst>
          </p:cNvPr>
          <p:cNvGrpSpPr/>
          <p:nvPr/>
        </p:nvGrpSpPr>
        <p:grpSpPr>
          <a:xfrm>
            <a:off x="7371142" y="2550113"/>
            <a:ext cx="2004348" cy="284748"/>
            <a:chOff x="2816506" y="3398002"/>
            <a:chExt cx="2004348" cy="284748"/>
          </a:xfrm>
        </p:grpSpPr>
        <p:cxnSp>
          <p:nvCxnSpPr>
            <p:cNvPr id="18" name="Straight Arrow Connector 17">
              <a:extLst>
                <a:ext uri="{FF2B5EF4-FFF2-40B4-BE49-F238E27FC236}">
                  <a16:creationId xmlns:a16="http://schemas.microsoft.com/office/drawing/2014/main" id="{A5B1195C-C868-0645-BC0A-F76A1F60DB30}"/>
                </a:ext>
              </a:extLst>
            </p:cNvPr>
            <p:cNvCxnSpPr>
              <a:cxnSpLocks/>
            </p:cNvCxnSpPr>
            <p:nvPr/>
          </p:nvCxnSpPr>
          <p:spPr>
            <a:xfrm>
              <a:off x="2816507" y="3398002"/>
              <a:ext cx="2004347" cy="0"/>
            </a:xfrm>
            <a:prstGeom prst="straightConnector1">
              <a:avLst/>
            </a:prstGeom>
            <a:ln w="15875">
              <a:solidFill>
                <a:schemeClr val="accent5"/>
              </a:solidFill>
              <a:tailEnd type="stealth" w="lg" len="lg"/>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F167FCED-13BB-324E-AFA2-759B4E3EE4A9}"/>
                </a:ext>
              </a:extLst>
            </p:cNvPr>
            <p:cNvCxnSpPr>
              <a:cxnSpLocks/>
            </p:cNvCxnSpPr>
            <p:nvPr/>
          </p:nvCxnSpPr>
          <p:spPr>
            <a:xfrm>
              <a:off x="2816506" y="3682750"/>
              <a:ext cx="2004347" cy="0"/>
            </a:xfrm>
            <a:prstGeom prst="straightConnector1">
              <a:avLst/>
            </a:prstGeom>
            <a:ln w="15875">
              <a:solidFill>
                <a:schemeClr val="accent5"/>
              </a:solidFill>
              <a:headEnd type="stealth" w="lg" len="lg"/>
              <a:tailEnd type="none" w="lg" len="lg"/>
            </a:ln>
          </p:spPr>
          <p:style>
            <a:lnRef idx="1">
              <a:schemeClr val="accent1"/>
            </a:lnRef>
            <a:fillRef idx="0">
              <a:schemeClr val="accent1"/>
            </a:fillRef>
            <a:effectRef idx="0">
              <a:schemeClr val="accent1"/>
            </a:effectRef>
            <a:fontRef idx="minor">
              <a:schemeClr val="tx1"/>
            </a:fontRef>
          </p:style>
        </p:cxnSp>
      </p:grpSp>
      <p:sp>
        <p:nvSpPr>
          <p:cNvPr id="20" name="TextBox 19">
            <a:extLst>
              <a:ext uri="{FF2B5EF4-FFF2-40B4-BE49-F238E27FC236}">
                <a16:creationId xmlns:a16="http://schemas.microsoft.com/office/drawing/2014/main" id="{3A074757-8146-2B41-8844-5F423D409105}"/>
              </a:ext>
            </a:extLst>
          </p:cNvPr>
          <p:cNvSpPr txBox="1"/>
          <p:nvPr/>
        </p:nvSpPr>
        <p:spPr>
          <a:xfrm>
            <a:off x="7371137" y="1959626"/>
            <a:ext cx="2004347" cy="584775"/>
          </a:xfrm>
          <a:prstGeom prst="rect">
            <a:avLst/>
          </a:prstGeom>
          <a:noFill/>
        </p:spPr>
        <p:txBody>
          <a:bodyPr wrap="square">
            <a:spAutoFit/>
          </a:bodyPr>
          <a:lstStyle/>
          <a:p>
            <a:pPr algn="ctr"/>
            <a:r>
              <a:rPr lang="en-US" sz="1600" i="1" dirty="0">
                <a:solidFill>
                  <a:schemeClr val="accent5"/>
                </a:solidFill>
                <a:effectLst/>
                <a:latin typeface="Times New Roman" panose="02020603050405020304" pitchFamily="18" charset="0"/>
                <a:ea typeface="KaiTi" panose="02010609060101010101" pitchFamily="49" charset="-122"/>
              </a:rPr>
              <a:t>Treasury bonds and central bank bills</a:t>
            </a:r>
            <a:r>
              <a:rPr lang="en-CN" sz="1600" i="1" dirty="0">
                <a:solidFill>
                  <a:schemeClr val="accent5"/>
                </a:solidFill>
                <a:effectLst/>
              </a:rPr>
              <a:t> </a:t>
            </a:r>
            <a:endParaRPr lang="en-CN" sz="1600" i="1" dirty="0">
              <a:solidFill>
                <a:schemeClr val="accent5"/>
              </a:solidFill>
            </a:endParaRPr>
          </a:p>
        </p:txBody>
      </p:sp>
      <p:sp>
        <p:nvSpPr>
          <p:cNvPr id="21" name="TextBox 20">
            <a:extLst>
              <a:ext uri="{FF2B5EF4-FFF2-40B4-BE49-F238E27FC236}">
                <a16:creationId xmlns:a16="http://schemas.microsoft.com/office/drawing/2014/main" id="{662CC380-DC31-CA4D-BD40-C5B155503B3F}"/>
              </a:ext>
            </a:extLst>
          </p:cNvPr>
          <p:cNvSpPr txBox="1"/>
          <p:nvPr/>
        </p:nvSpPr>
        <p:spPr>
          <a:xfrm>
            <a:off x="7371137" y="2842763"/>
            <a:ext cx="2004347" cy="338554"/>
          </a:xfrm>
          <a:prstGeom prst="rect">
            <a:avLst/>
          </a:prstGeom>
          <a:noFill/>
        </p:spPr>
        <p:txBody>
          <a:bodyPr wrap="square">
            <a:spAutoFit/>
          </a:bodyPr>
          <a:lstStyle/>
          <a:p>
            <a:pPr algn="ctr"/>
            <a:r>
              <a:rPr lang="en-US" sz="1600" i="1" dirty="0">
                <a:solidFill>
                  <a:schemeClr val="accent5"/>
                </a:solidFill>
                <a:latin typeface="Times New Roman" panose="02020603050405020304" pitchFamily="18" charset="0"/>
                <a:ea typeface="KaiTi" panose="02010609060101010101" pitchFamily="49" charset="-122"/>
              </a:rPr>
              <a:t>Special Funding</a:t>
            </a:r>
            <a:r>
              <a:rPr lang="zh-CN" altLang="en-US" sz="1600" i="1" dirty="0">
                <a:solidFill>
                  <a:schemeClr val="accent5"/>
                </a:solidFill>
                <a:latin typeface="Times New Roman" panose="02020603050405020304" pitchFamily="18" charset="0"/>
                <a:ea typeface="KaiTi" panose="02010609060101010101" pitchFamily="49" charset="-122"/>
              </a:rPr>
              <a:t> </a:t>
            </a:r>
            <a:r>
              <a:rPr lang="en-US" altLang="zh-CN" sz="1600" b="1" dirty="0">
                <a:solidFill>
                  <a:schemeClr val="tx1"/>
                </a:solidFill>
                <a:latin typeface="Times New Roman" panose="02020603050405020304" pitchFamily="18" charset="0"/>
                <a:ea typeface="KaiTi" panose="02010609060101010101" pitchFamily="49" charset="-122"/>
                <a:cs typeface="Times New Roman" panose="02020603050405020304" pitchFamily="18" charset="0"/>
              </a:rPr>
              <a:t>💰</a:t>
            </a:r>
            <a:endParaRPr lang="en-CN" sz="1600" i="1" dirty="0">
              <a:solidFill>
                <a:schemeClr val="accent5"/>
              </a:solidFill>
            </a:endParaRPr>
          </a:p>
        </p:txBody>
      </p:sp>
      <p:grpSp>
        <p:nvGrpSpPr>
          <p:cNvPr id="50" name="Group 49">
            <a:extLst>
              <a:ext uri="{FF2B5EF4-FFF2-40B4-BE49-F238E27FC236}">
                <a16:creationId xmlns:a16="http://schemas.microsoft.com/office/drawing/2014/main" id="{65E970A6-F12E-B642-B892-41D40B8CF863}"/>
              </a:ext>
            </a:extLst>
          </p:cNvPr>
          <p:cNvGrpSpPr/>
          <p:nvPr/>
        </p:nvGrpSpPr>
        <p:grpSpPr>
          <a:xfrm>
            <a:off x="5853234" y="3015735"/>
            <a:ext cx="485527" cy="1253115"/>
            <a:chOff x="5913392" y="3097931"/>
            <a:chExt cx="485527" cy="1253115"/>
          </a:xfrm>
        </p:grpSpPr>
        <p:cxnSp>
          <p:nvCxnSpPr>
            <p:cNvPr id="23" name="Straight Arrow Connector 22">
              <a:extLst>
                <a:ext uri="{FF2B5EF4-FFF2-40B4-BE49-F238E27FC236}">
                  <a16:creationId xmlns:a16="http://schemas.microsoft.com/office/drawing/2014/main" id="{A2FDAF3B-76F2-A641-9E8C-04DB873C34F1}"/>
                </a:ext>
              </a:extLst>
            </p:cNvPr>
            <p:cNvCxnSpPr>
              <a:cxnSpLocks/>
            </p:cNvCxnSpPr>
            <p:nvPr/>
          </p:nvCxnSpPr>
          <p:spPr>
            <a:xfrm rot="16200000">
              <a:off x="5306294" y="3705029"/>
              <a:ext cx="1214196" cy="0"/>
            </a:xfrm>
            <a:prstGeom prst="straightConnector1">
              <a:avLst/>
            </a:prstGeom>
            <a:ln w="15875">
              <a:solidFill>
                <a:srgbClr val="C00000"/>
              </a:solidFill>
              <a:tailEnd type="stealth"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204F5A91-EFFE-7D4D-AB42-807A21ED18A0}"/>
                </a:ext>
              </a:extLst>
            </p:cNvPr>
            <p:cNvCxnSpPr>
              <a:cxnSpLocks/>
            </p:cNvCxnSpPr>
            <p:nvPr/>
          </p:nvCxnSpPr>
          <p:spPr>
            <a:xfrm rot="16200000">
              <a:off x="5791821" y="3743948"/>
              <a:ext cx="1214196" cy="0"/>
            </a:xfrm>
            <a:prstGeom prst="straightConnector1">
              <a:avLst/>
            </a:prstGeom>
            <a:ln w="15875">
              <a:solidFill>
                <a:srgbClr val="C00000"/>
              </a:solidFill>
              <a:headEnd type="stealth" w="lg" len="lg"/>
              <a:tailEnd type="none" w="lg" len="lg"/>
            </a:ln>
          </p:spPr>
          <p:style>
            <a:lnRef idx="1">
              <a:schemeClr val="accent1"/>
            </a:lnRef>
            <a:fillRef idx="0">
              <a:schemeClr val="accent1"/>
            </a:fillRef>
            <a:effectRef idx="0">
              <a:schemeClr val="accent1"/>
            </a:effectRef>
            <a:fontRef idx="minor">
              <a:schemeClr val="tx1"/>
            </a:fontRef>
          </p:style>
        </p:cxnSp>
      </p:grpSp>
      <p:sp>
        <p:nvSpPr>
          <p:cNvPr id="25" name="TextBox 24">
            <a:extLst>
              <a:ext uri="{FF2B5EF4-FFF2-40B4-BE49-F238E27FC236}">
                <a16:creationId xmlns:a16="http://schemas.microsoft.com/office/drawing/2014/main" id="{7CC35E44-C486-CC4E-98D4-562F61EC7F83}"/>
              </a:ext>
            </a:extLst>
          </p:cNvPr>
          <p:cNvSpPr txBox="1"/>
          <p:nvPr/>
        </p:nvSpPr>
        <p:spPr>
          <a:xfrm>
            <a:off x="6337962" y="3361359"/>
            <a:ext cx="1207929" cy="584775"/>
          </a:xfrm>
          <a:prstGeom prst="rect">
            <a:avLst/>
          </a:prstGeom>
          <a:noFill/>
        </p:spPr>
        <p:txBody>
          <a:bodyPr wrap="square">
            <a:spAutoFit/>
          </a:bodyPr>
          <a:lstStyle/>
          <a:p>
            <a:pPr algn="ctr"/>
            <a:r>
              <a:rPr lang="en-US" sz="1600" i="1" dirty="0">
                <a:solidFill>
                  <a:srgbClr val="C00000"/>
                </a:solidFill>
                <a:effectLst/>
                <a:latin typeface="Times New Roman" panose="02020603050405020304" pitchFamily="18" charset="0"/>
                <a:ea typeface="KaiTi" panose="02010609060101010101" pitchFamily="49" charset="-122"/>
              </a:rPr>
              <a:t>Special Funding </a:t>
            </a:r>
            <a:r>
              <a:rPr lang="en-US" altLang="zh-CN" sz="1600" b="1" dirty="0">
                <a:solidFill>
                  <a:schemeClr val="tx1"/>
                </a:solidFill>
                <a:latin typeface="Times New Roman" panose="02020603050405020304" pitchFamily="18" charset="0"/>
                <a:ea typeface="KaiTi" panose="02010609060101010101" pitchFamily="49" charset="-122"/>
                <a:cs typeface="Times New Roman" panose="02020603050405020304" pitchFamily="18" charset="0"/>
              </a:rPr>
              <a:t>💰</a:t>
            </a:r>
            <a:endParaRPr lang="en-US" sz="1600" i="1" dirty="0">
              <a:solidFill>
                <a:srgbClr val="C00000"/>
              </a:solidFill>
              <a:effectLst/>
              <a:latin typeface="Times New Roman" panose="02020603050405020304" pitchFamily="18" charset="0"/>
              <a:ea typeface="KaiTi" panose="02010609060101010101" pitchFamily="49" charset="-122"/>
            </a:endParaRPr>
          </a:p>
        </p:txBody>
      </p:sp>
      <p:sp>
        <p:nvSpPr>
          <p:cNvPr id="26" name="TextBox 25">
            <a:extLst>
              <a:ext uri="{FF2B5EF4-FFF2-40B4-BE49-F238E27FC236}">
                <a16:creationId xmlns:a16="http://schemas.microsoft.com/office/drawing/2014/main" id="{35838F08-94A2-9543-AAE0-9DFE496251F0}"/>
              </a:ext>
            </a:extLst>
          </p:cNvPr>
          <p:cNvSpPr txBox="1"/>
          <p:nvPr/>
        </p:nvSpPr>
        <p:spPr>
          <a:xfrm>
            <a:off x="4879230" y="3484943"/>
            <a:ext cx="972222" cy="338554"/>
          </a:xfrm>
          <a:prstGeom prst="rect">
            <a:avLst/>
          </a:prstGeom>
          <a:noFill/>
        </p:spPr>
        <p:txBody>
          <a:bodyPr wrap="square">
            <a:spAutoFit/>
          </a:bodyPr>
          <a:lstStyle/>
          <a:p>
            <a:pPr algn="ctr"/>
            <a:r>
              <a:rPr lang="en-US" sz="1600" i="1" dirty="0">
                <a:solidFill>
                  <a:srgbClr val="C00000"/>
                </a:solidFill>
                <a:latin typeface="Times New Roman" panose="02020603050405020304" pitchFamily="18" charset="0"/>
                <a:ea typeface="KaiTi" panose="02010609060101010101" pitchFamily="49" charset="-122"/>
              </a:rPr>
              <a:t>Stock</a:t>
            </a:r>
            <a:r>
              <a:rPr lang="zh-CN" altLang="en-US" sz="1600" i="1" dirty="0">
                <a:solidFill>
                  <a:srgbClr val="C00000"/>
                </a:solidFill>
                <a:latin typeface="Times New Roman" panose="02020603050405020304" pitchFamily="18" charset="0"/>
                <a:ea typeface="KaiTi" panose="02010609060101010101" pitchFamily="49" charset="-122"/>
              </a:rPr>
              <a:t> </a:t>
            </a:r>
            <a:r>
              <a:rPr lang="en-US" altLang="zh-CN" sz="1600" b="1" dirty="0">
                <a:solidFill>
                  <a:schemeClr val="tx1"/>
                </a:solidFill>
                <a:latin typeface="Times New Roman" panose="02020603050405020304" pitchFamily="18" charset="0"/>
                <a:ea typeface="KaiTi" panose="02010609060101010101" pitchFamily="49" charset="-122"/>
                <a:cs typeface="Times New Roman" panose="02020603050405020304" pitchFamily="18" charset="0"/>
              </a:rPr>
              <a:t>💵</a:t>
            </a:r>
            <a:endParaRPr lang="en-CN" sz="1600" i="1" dirty="0">
              <a:solidFill>
                <a:srgbClr val="C00000"/>
              </a:solidFill>
            </a:endParaRPr>
          </a:p>
        </p:txBody>
      </p:sp>
      <p:sp>
        <p:nvSpPr>
          <p:cNvPr id="49" name="Rounded Rectangle 48">
            <a:extLst>
              <a:ext uri="{FF2B5EF4-FFF2-40B4-BE49-F238E27FC236}">
                <a16:creationId xmlns:a16="http://schemas.microsoft.com/office/drawing/2014/main" id="{06043D37-2C65-7A48-AB42-F2DAD582BB2E}"/>
              </a:ext>
            </a:extLst>
          </p:cNvPr>
          <p:cNvSpPr/>
          <p:nvPr/>
        </p:nvSpPr>
        <p:spPr>
          <a:xfrm>
            <a:off x="166632" y="1777666"/>
            <a:ext cx="11858735" cy="3302668"/>
          </a:xfrm>
          <a:prstGeom prst="roundRect">
            <a:avLst>
              <a:gd name="adj" fmla="val 2453"/>
            </a:avLst>
          </a:prstGeom>
          <a:noFill/>
          <a:ln w="19050">
            <a:solidFill>
              <a:schemeClr val="accent6">
                <a:lumMod val="50000"/>
              </a:schemeClr>
            </a:solidFill>
            <a:prstDash val="solid"/>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t"/>
          <a:lstStyle/>
          <a:p>
            <a:endParaRPr lang="en-CN" b="1" i="1" dirty="0">
              <a:solidFill>
                <a:srgbClr val="C00000"/>
              </a:solidFill>
              <a:latin typeface="Times New Roman" panose="02020603050405020304" pitchFamily="18" charset="0"/>
              <a:ea typeface="KaiTi" panose="02010609060101010101" pitchFamily="49" charset="-122"/>
              <a:cs typeface="Times New Roman" panose="02020603050405020304" pitchFamily="18" charset="0"/>
            </a:endParaRPr>
          </a:p>
        </p:txBody>
      </p:sp>
      <p:sp>
        <p:nvSpPr>
          <p:cNvPr id="186" name="TextBox 185">
            <a:extLst>
              <a:ext uri="{FF2B5EF4-FFF2-40B4-BE49-F238E27FC236}">
                <a16:creationId xmlns:a16="http://schemas.microsoft.com/office/drawing/2014/main" id="{93EDFCC8-D56B-3246-86F7-1E304047DA07}"/>
              </a:ext>
            </a:extLst>
          </p:cNvPr>
          <p:cNvSpPr txBox="1"/>
          <p:nvPr/>
        </p:nvSpPr>
        <p:spPr>
          <a:xfrm>
            <a:off x="8600398" y="4014428"/>
            <a:ext cx="3425371" cy="1065869"/>
          </a:xfrm>
          <a:prstGeom prst="rect">
            <a:avLst/>
          </a:prstGeom>
          <a:noFill/>
        </p:spPr>
        <p:txBody>
          <a:bodyPr wrap="square">
            <a:spAutoFit/>
          </a:bodyPr>
          <a:lstStyle/>
          <a:p>
            <a:pPr>
              <a:lnSpc>
                <a:spcPct val="120000"/>
              </a:lnSpc>
            </a:pPr>
            <a:r>
              <a:rPr lang="en-CN" sz="1800" b="1" i="1" dirty="0">
                <a:solidFill>
                  <a:schemeClr val="accent2"/>
                </a:solidFill>
                <a:effectLst/>
                <a:latin typeface="Times New Roman" panose="02020603050405020304" pitchFamily="18" charset="0"/>
                <a:ea typeface="KaiTi" panose="02010609060101010101" pitchFamily="49" charset="-122"/>
              </a:rPr>
              <a:t>Part 1. </a:t>
            </a:r>
            <a:r>
              <a:rPr lang="en-CN" b="1" i="1" dirty="0">
                <a:solidFill>
                  <a:schemeClr val="accent2"/>
                </a:solidFill>
                <a:latin typeface="Times New Roman" panose="02020603050405020304" pitchFamily="18" charset="0"/>
                <a:ea typeface="KaiTi" panose="02010609060101010101" pitchFamily="49" charset="-122"/>
              </a:rPr>
              <a:t>S</a:t>
            </a:r>
            <a:r>
              <a:rPr lang="en-CN" sz="1800" b="1" i="1" dirty="0">
                <a:solidFill>
                  <a:schemeClr val="accent2"/>
                </a:solidFill>
                <a:effectLst/>
                <a:latin typeface="Times New Roman" panose="02020603050405020304" pitchFamily="18" charset="0"/>
                <a:ea typeface="KaiTi" panose="02010609060101010101" pitchFamily="49" charset="-122"/>
              </a:rPr>
              <a:t>wap </a:t>
            </a:r>
            <a:r>
              <a:rPr lang="en-CN" b="1" i="1" dirty="0">
                <a:solidFill>
                  <a:schemeClr val="accent2"/>
                </a:solidFill>
                <a:latin typeface="Times New Roman" panose="02020603050405020304" pitchFamily="18" charset="0"/>
                <a:ea typeface="KaiTi" panose="02010609060101010101" pitchFamily="49" charset="-122"/>
              </a:rPr>
              <a:t>O</a:t>
            </a:r>
            <a:r>
              <a:rPr lang="en-CN" sz="1800" b="1" i="1" dirty="0">
                <a:solidFill>
                  <a:schemeClr val="accent2"/>
                </a:solidFill>
                <a:effectLst/>
                <a:latin typeface="Times New Roman" panose="02020603050405020304" pitchFamily="18" charset="0"/>
                <a:ea typeface="KaiTi" panose="02010609060101010101" pitchFamily="49" charset="-122"/>
              </a:rPr>
              <a:t>peration</a:t>
            </a:r>
          </a:p>
          <a:p>
            <a:pPr>
              <a:lnSpc>
                <a:spcPct val="120000"/>
              </a:lnSpc>
            </a:pPr>
            <a:r>
              <a:rPr lang="en-CN" b="1" i="1" dirty="0">
                <a:solidFill>
                  <a:schemeClr val="accent5"/>
                </a:solidFill>
                <a:latin typeface="Times New Roman" panose="02020603050405020304" pitchFamily="18" charset="0"/>
                <a:ea typeface="KaiTi" panose="02010609060101010101" pitchFamily="49" charset="-122"/>
              </a:rPr>
              <a:t>Part 2. I</a:t>
            </a:r>
            <a:r>
              <a:rPr lang="en-CN" sz="1800" b="1" i="1" dirty="0">
                <a:solidFill>
                  <a:schemeClr val="accent5"/>
                </a:solidFill>
                <a:effectLst/>
                <a:latin typeface="Times New Roman" panose="02020603050405020304" pitchFamily="18" charset="0"/>
                <a:ea typeface="KaiTi" panose="02010609060101010101" pitchFamily="49" charset="-122"/>
              </a:rPr>
              <a:t>nstitutional </a:t>
            </a:r>
            <a:r>
              <a:rPr lang="en-CN" b="1" i="1" dirty="0">
                <a:solidFill>
                  <a:schemeClr val="accent5"/>
                </a:solidFill>
                <a:latin typeface="Times New Roman" panose="02020603050405020304" pitchFamily="18" charset="0"/>
                <a:ea typeface="KaiTi" panose="02010609060101010101" pitchFamily="49" charset="-122"/>
              </a:rPr>
              <a:t>F</a:t>
            </a:r>
            <a:r>
              <a:rPr lang="en-CN" sz="1800" b="1" i="1" dirty="0">
                <a:solidFill>
                  <a:schemeClr val="accent5"/>
                </a:solidFill>
                <a:effectLst/>
                <a:latin typeface="Times New Roman" panose="02020603050405020304" pitchFamily="18" charset="0"/>
                <a:ea typeface="KaiTi" panose="02010609060101010101" pitchFamily="49" charset="-122"/>
              </a:rPr>
              <a:t>inancing</a:t>
            </a:r>
            <a:endParaRPr lang="en-CN" b="1" i="1" dirty="0">
              <a:solidFill>
                <a:schemeClr val="accent5"/>
              </a:solidFill>
              <a:latin typeface="Times New Roman" panose="02020603050405020304" pitchFamily="18" charset="0"/>
              <a:ea typeface="KaiTi" panose="02010609060101010101" pitchFamily="49" charset="-122"/>
            </a:endParaRPr>
          </a:p>
          <a:p>
            <a:pPr>
              <a:lnSpc>
                <a:spcPct val="120000"/>
              </a:lnSpc>
            </a:pPr>
            <a:r>
              <a:rPr lang="en-CN" sz="1800" b="1" i="1" dirty="0">
                <a:solidFill>
                  <a:srgbClr val="C00000"/>
                </a:solidFill>
                <a:effectLst/>
                <a:latin typeface="Times New Roman" panose="02020603050405020304" pitchFamily="18" charset="0"/>
                <a:ea typeface="KaiTi" panose="02010609060101010101" pitchFamily="49" charset="-122"/>
              </a:rPr>
              <a:t>Part 3. </a:t>
            </a:r>
            <a:r>
              <a:rPr lang="en-CN" b="1" i="1" dirty="0">
                <a:solidFill>
                  <a:srgbClr val="C00000"/>
                </a:solidFill>
                <a:latin typeface="Times New Roman" panose="02020603050405020304" pitchFamily="18" charset="0"/>
                <a:ea typeface="KaiTi" panose="02010609060101010101" pitchFamily="49" charset="-122"/>
              </a:rPr>
              <a:t>I</a:t>
            </a:r>
            <a:r>
              <a:rPr lang="en-CN" sz="1800" b="1" i="1" dirty="0">
                <a:solidFill>
                  <a:srgbClr val="C00000"/>
                </a:solidFill>
                <a:effectLst/>
                <a:latin typeface="Times New Roman" panose="02020603050405020304" pitchFamily="18" charset="0"/>
                <a:ea typeface="KaiTi" panose="02010609060101010101" pitchFamily="49" charset="-122"/>
              </a:rPr>
              <a:t>nstitutional </a:t>
            </a:r>
            <a:r>
              <a:rPr lang="en-CN" b="1" i="1" dirty="0">
                <a:solidFill>
                  <a:srgbClr val="C00000"/>
                </a:solidFill>
                <a:latin typeface="Times New Roman" panose="02020603050405020304" pitchFamily="18" charset="0"/>
                <a:ea typeface="KaiTi" panose="02010609060101010101" pitchFamily="49" charset="-122"/>
              </a:rPr>
              <a:t>I</a:t>
            </a:r>
            <a:r>
              <a:rPr lang="en-CN" sz="1800" b="1" i="1" dirty="0">
                <a:solidFill>
                  <a:srgbClr val="C00000"/>
                </a:solidFill>
                <a:effectLst/>
                <a:latin typeface="Times New Roman" panose="02020603050405020304" pitchFamily="18" charset="0"/>
                <a:ea typeface="KaiTi" panose="02010609060101010101" pitchFamily="49" charset="-122"/>
              </a:rPr>
              <a:t>nvestment</a:t>
            </a:r>
            <a:r>
              <a:rPr lang="en-CN" b="1" i="1" dirty="0">
                <a:solidFill>
                  <a:srgbClr val="C00000"/>
                </a:solidFill>
                <a:effectLst/>
              </a:rPr>
              <a:t> </a:t>
            </a:r>
            <a:endParaRPr lang="en-CN" b="1" i="1" dirty="0">
              <a:solidFill>
                <a:srgbClr val="C00000"/>
              </a:solidFill>
            </a:endParaRPr>
          </a:p>
        </p:txBody>
      </p:sp>
    </p:spTree>
    <p:extLst>
      <p:ext uri="{BB962C8B-B14F-4D97-AF65-F5344CB8AC3E}">
        <p14:creationId xmlns:p14="http://schemas.microsoft.com/office/powerpoint/2010/main" val="289618075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33" name="Group 132">
            <a:extLst>
              <a:ext uri="{FF2B5EF4-FFF2-40B4-BE49-F238E27FC236}">
                <a16:creationId xmlns:a16="http://schemas.microsoft.com/office/drawing/2014/main" id="{58D4D0AD-2AC1-8E47-BCB0-855240F55240}"/>
              </a:ext>
            </a:extLst>
          </p:cNvPr>
          <p:cNvGrpSpPr/>
          <p:nvPr/>
        </p:nvGrpSpPr>
        <p:grpSpPr>
          <a:xfrm>
            <a:off x="734289" y="1108369"/>
            <a:ext cx="10723421" cy="4641262"/>
            <a:chOff x="734288" y="551932"/>
            <a:chExt cx="10723421" cy="4641262"/>
          </a:xfrm>
        </p:grpSpPr>
        <p:sp>
          <p:nvSpPr>
            <p:cNvPr id="23" name="Rounded Rectangle 22">
              <a:extLst>
                <a:ext uri="{FF2B5EF4-FFF2-40B4-BE49-F238E27FC236}">
                  <a16:creationId xmlns:a16="http://schemas.microsoft.com/office/drawing/2014/main" id="{97642420-C186-8B4D-B7BF-1B1A13AC88DC}"/>
                </a:ext>
              </a:extLst>
            </p:cNvPr>
            <p:cNvSpPr/>
            <p:nvPr/>
          </p:nvSpPr>
          <p:spPr>
            <a:xfrm>
              <a:off x="734290" y="551932"/>
              <a:ext cx="10723419" cy="2556164"/>
            </a:xfrm>
            <a:prstGeom prst="roundRect">
              <a:avLst>
                <a:gd name="adj" fmla="val 2453"/>
              </a:avLst>
            </a:prstGeom>
            <a:noFill/>
            <a:ln w="19050">
              <a:solidFill>
                <a:srgbClr val="7030A0"/>
              </a:solidFill>
              <a:prstDash val="solid"/>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t"/>
            <a:lstStyle/>
            <a:p>
              <a:endParaRPr lang="en-CN" b="1" i="1" dirty="0">
                <a:solidFill>
                  <a:srgbClr val="C00000"/>
                </a:solidFill>
                <a:latin typeface="Times New Roman" panose="02020603050405020304" pitchFamily="18" charset="0"/>
                <a:ea typeface="KaiTi" panose="02010609060101010101" pitchFamily="49" charset="-122"/>
                <a:cs typeface="Times New Roman" panose="02020603050405020304" pitchFamily="18" charset="0"/>
              </a:endParaRPr>
            </a:p>
          </p:txBody>
        </p:sp>
        <p:sp>
          <p:nvSpPr>
            <p:cNvPr id="25" name="TextBox 24">
              <a:extLst>
                <a:ext uri="{FF2B5EF4-FFF2-40B4-BE49-F238E27FC236}">
                  <a16:creationId xmlns:a16="http://schemas.microsoft.com/office/drawing/2014/main" id="{08F2BCA6-809B-524D-8840-33E6EA95D04D}"/>
                </a:ext>
              </a:extLst>
            </p:cNvPr>
            <p:cNvSpPr txBox="1"/>
            <p:nvPr/>
          </p:nvSpPr>
          <p:spPr>
            <a:xfrm>
              <a:off x="734290" y="2659910"/>
              <a:ext cx="2648265" cy="435376"/>
            </a:xfrm>
            <a:prstGeom prst="rect">
              <a:avLst/>
            </a:prstGeom>
            <a:noFill/>
          </p:spPr>
          <p:txBody>
            <a:bodyPr wrap="square">
              <a:spAutoFit/>
            </a:bodyPr>
            <a:lstStyle/>
            <a:p>
              <a:pPr>
                <a:lnSpc>
                  <a:spcPct val="120000"/>
                </a:lnSpc>
              </a:pPr>
              <a:r>
                <a:rPr lang="en-US" sz="2000" b="1" i="1" dirty="0">
                  <a:solidFill>
                    <a:srgbClr val="7030A0"/>
                  </a:solidFill>
                  <a:effectLst/>
                  <a:latin typeface="Times New Roman" panose="02020603050405020304" pitchFamily="18" charset="0"/>
                  <a:ea typeface="DengXian" panose="02010600030101010101" pitchFamily="2" charset="-122"/>
                </a:rPr>
                <a:t>Liquidity Effects</a:t>
              </a:r>
              <a:endParaRPr lang="en-CN" sz="2000" b="1" i="1" dirty="0">
                <a:solidFill>
                  <a:srgbClr val="7030A0"/>
                </a:solidFill>
              </a:endParaRPr>
            </a:p>
          </p:txBody>
        </p:sp>
        <p:grpSp>
          <p:nvGrpSpPr>
            <p:cNvPr id="45" name="Group 44">
              <a:extLst>
                <a:ext uri="{FF2B5EF4-FFF2-40B4-BE49-F238E27FC236}">
                  <a16:creationId xmlns:a16="http://schemas.microsoft.com/office/drawing/2014/main" id="{B39B2B5E-BC16-C44C-87A0-E113D62BF563}"/>
                </a:ext>
              </a:extLst>
            </p:cNvPr>
            <p:cNvGrpSpPr/>
            <p:nvPr/>
          </p:nvGrpSpPr>
          <p:grpSpPr>
            <a:xfrm>
              <a:off x="995420" y="811172"/>
              <a:ext cx="10201164" cy="2066426"/>
              <a:chOff x="995417" y="2171936"/>
              <a:chExt cx="10201164" cy="2066426"/>
            </a:xfrm>
          </p:grpSpPr>
          <p:sp>
            <p:nvSpPr>
              <p:cNvPr id="43" name="TextBox 42">
                <a:extLst>
                  <a:ext uri="{FF2B5EF4-FFF2-40B4-BE49-F238E27FC236}">
                    <a16:creationId xmlns:a16="http://schemas.microsoft.com/office/drawing/2014/main" id="{52594EA6-CC43-814B-9A32-4216D516C0BB}"/>
                  </a:ext>
                </a:extLst>
              </p:cNvPr>
              <p:cNvSpPr txBox="1"/>
              <p:nvPr/>
            </p:nvSpPr>
            <p:spPr>
              <a:xfrm>
                <a:off x="4820851" y="2942910"/>
                <a:ext cx="2550289" cy="584775"/>
              </a:xfrm>
              <a:prstGeom prst="rect">
                <a:avLst/>
              </a:prstGeom>
              <a:noFill/>
            </p:spPr>
            <p:txBody>
              <a:bodyPr wrap="square">
                <a:spAutoFit/>
              </a:bodyPr>
              <a:lstStyle/>
              <a:p>
                <a:pPr algn="ctr"/>
                <a:r>
                  <a:rPr lang="en-US" sz="1600" b="1" i="1" dirty="0">
                    <a:solidFill>
                      <a:srgbClr val="7030A0"/>
                    </a:solidFill>
                    <a:latin typeface="Times New Roman" panose="02020603050405020304" pitchFamily="18" charset="0"/>
                    <a:ea typeface="DengXian" panose="02010600030101010101" pitchFamily="2" charset="-122"/>
                  </a:rPr>
                  <a:t>Get Liquidity </a:t>
                </a:r>
                <a:r>
                  <a:rPr lang="en-US" altLang="zh-CN" sz="1600" b="1" i="1" dirty="0">
                    <a:solidFill>
                      <a:srgbClr val="7030A0"/>
                    </a:solidFill>
                    <a:latin typeface="Times New Roman" panose="02020603050405020304" pitchFamily="18" charset="0"/>
                    <a:ea typeface="DengXian" panose="02010600030101010101" pitchFamily="2" charset="-122"/>
                  </a:rPr>
                  <a:t>(500 Billion)</a:t>
                </a:r>
                <a:r>
                  <a:rPr lang="en-US" sz="1600" b="1" i="1" dirty="0">
                    <a:solidFill>
                      <a:srgbClr val="7030A0"/>
                    </a:solidFill>
                    <a:latin typeface="Times New Roman" panose="02020603050405020304" pitchFamily="18" charset="0"/>
                    <a:ea typeface="DengXian" panose="02010600030101010101" pitchFamily="2" charset="-122"/>
                  </a:rPr>
                  <a:t> and Buy Stock</a:t>
                </a:r>
                <a:endParaRPr lang="en-CN" sz="1600" dirty="0">
                  <a:solidFill>
                    <a:srgbClr val="7030A0"/>
                  </a:solidFill>
                </a:endParaRPr>
              </a:p>
            </p:txBody>
          </p:sp>
          <p:sp>
            <p:nvSpPr>
              <p:cNvPr id="4" name="Rectangle 3">
                <a:extLst>
                  <a:ext uri="{FF2B5EF4-FFF2-40B4-BE49-F238E27FC236}">
                    <a16:creationId xmlns:a16="http://schemas.microsoft.com/office/drawing/2014/main" id="{4F60944C-3D66-3D49-8AE4-6598589EAF05}"/>
                  </a:ext>
                </a:extLst>
              </p:cNvPr>
              <p:cNvSpPr/>
              <p:nvPr/>
            </p:nvSpPr>
            <p:spPr>
              <a:xfrm>
                <a:off x="995417" y="2239136"/>
                <a:ext cx="2550289" cy="646495"/>
              </a:xfrm>
              <a:prstGeom prst="rect">
                <a:avLst/>
              </a:prstGeom>
              <a:solidFill>
                <a:schemeClr val="accent6">
                  <a:lumMod val="20000"/>
                  <a:lumOff val="80000"/>
                </a:schemeClr>
              </a:solidFill>
              <a:ln w="19050">
                <a:solidFill>
                  <a:schemeClr val="tx1"/>
                </a:solidFill>
                <a:prstDash val="dash"/>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N" b="1" dirty="0">
                    <a:solidFill>
                      <a:schemeClr val="tx1"/>
                    </a:solidFill>
                    <a:latin typeface="Times New Roman" panose="02020603050405020304" pitchFamily="18" charset="0"/>
                    <a:cs typeface="Times New Roman" panose="02020603050405020304" pitchFamily="18" charset="0"/>
                  </a:rPr>
                  <a:t>PBOC</a:t>
                </a:r>
              </a:p>
            </p:txBody>
          </p:sp>
          <p:sp>
            <p:nvSpPr>
              <p:cNvPr id="5" name="Rectangle 4">
                <a:extLst>
                  <a:ext uri="{FF2B5EF4-FFF2-40B4-BE49-F238E27FC236}">
                    <a16:creationId xmlns:a16="http://schemas.microsoft.com/office/drawing/2014/main" id="{20240FAF-AC19-144F-A21A-BDDF43AAF3A8}"/>
                  </a:ext>
                </a:extLst>
              </p:cNvPr>
              <p:cNvSpPr/>
              <p:nvPr/>
            </p:nvSpPr>
            <p:spPr>
              <a:xfrm>
                <a:off x="4820853" y="2234681"/>
                <a:ext cx="2550289" cy="646495"/>
              </a:xfrm>
              <a:prstGeom prst="rect">
                <a:avLst/>
              </a:prstGeom>
              <a:solidFill>
                <a:schemeClr val="accent6">
                  <a:lumMod val="20000"/>
                  <a:lumOff val="80000"/>
                </a:schemeClr>
              </a:solidFill>
              <a:ln w="19050">
                <a:solidFill>
                  <a:schemeClr val="tx1"/>
                </a:solidFill>
                <a:prstDash val="dash"/>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b="1" dirty="0">
                    <a:solidFill>
                      <a:srgbClr val="000000"/>
                    </a:solidFill>
                    <a:effectLst/>
                    <a:latin typeface="Times New Roman" panose="02020603050405020304" pitchFamily="18" charset="0"/>
                    <a:ea typeface="KaiTi" panose="02010609060101010101" pitchFamily="49" charset="-122"/>
                  </a:rPr>
                  <a:t>NBFIs: Securities, Funds and Insurance Companies</a:t>
                </a:r>
                <a:r>
                  <a:rPr lang="en-CN" sz="1600" b="1" dirty="0">
                    <a:effectLst/>
                  </a:rPr>
                  <a:t> </a:t>
                </a:r>
                <a:endParaRPr lang="en-CN" sz="1600" b="1" dirty="0">
                  <a:solidFill>
                    <a:schemeClr val="tx1"/>
                  </a:solidFill>
                  <a:latin typeface="Times New Roman" panose="02020603050405020304" pitchFamily="18" charset="0"/>
                  <a:cs typeface="Times New Roman" panose="02020603050405020304" pitchFamily="18" charset="0"/>
                </a:endParaRPr>
              </a:p>
            </p:txBody>
          </p:sp>
          <p:sp>
            <p:nvSpPr>
              <p:cNvPr id="6" name="Rectangle 5">
                <a:extLst>
                  <a:ext uri="{FF2B5EF4-FFF2-40B4-BE49-F238E27FC236}">
                    <a16:creationId xmlns:a16="http://schemas.microsoft.com/office/drawing/2014/main" id="{0FE209DF-2BDC-F14B-9140-061A7A4C28A8}"/>
                  </a:ext>
                </a:extLst>
              </p:cNvPr>
              <p:cNvSpPr/>
              <p:nvPr/>
            </p:nvSpPr>
            <p:spPr>
              <a:xfrm>
                <a:off x="8646292" y="2243135"/>
                <a:ext cx="2550289" cy="646495"/>
              </a:xfrm>
              <a:prstGeom prst="rect">
                <a:avLst/>
              </a:prstGeom>
              <a:solidFill>
                <a:schemeClr val="accent6">
                  <a:lumMod val="20000"/>
                  <a:lumOff val="80000"/>
                </a:schemeClr>
              </a:solidFill>
              <a:ln w="19050">
                <a:solidFill>
                  <a:schemeClr val="tx1"/>
                </a:solidFill>
                <a:prstDash val="dash"/>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Times New Roman" panose="02020603050405020304" pitchFamily="18" charset="0"/>
                    <a:cs typeface="Times New Roman" panose="02020603050405020304" pitchFamily="18" charset="0"/>
                  </a:rPr>
                  <a:t>Secondary Market</a:t>
                </a:r>
                <a:endParaRPr lang="en-CN" b="1" dirty="0">
                  <a:solidFill>
                    <a:schemeClr val="tx1"/>
                  </a:solidFill>
                  <a:latin typeface="Times New Roman" panose="02020603050405020304" pitchFamily="18" charset="0"/>
                  <a:cs typeface="Times New Roman" panose="02020603050405020304" pitchFamily="18" charset="0"/>
                </a:endParaRPr>
              </a:p>
            </p:txBody>
          </p:sp>
          <p:grpSp>
            <p:nvGrpSpPr>
              <p:cNvPr id="30" name="Group 29">
                <a:extLst>
                  <a:ext uri="{FF2B5EF4-FFF2-40B4-BE49-F238E27FC236}">
                    <a16:creationId xmlns:a16="http://schemas.microsoft.com/office/drawing/2014/main" id="{BFBCFA4C-D521-0741-96DF-1B05242E4F8E}"/>
                  </a:ext>
                </a:extLst>
              </p:cNvPr>
              <p:cNvGrpSpPr/>
              <p:nvPr/>
            </p:nvGrpSpPr>
            <p:grpSpPr>
              <a:xfrm>
                <a:off x="3864099" y="2181354"/>
                <a:ext cx="638360" cy="771983"/>
                <a:chOff x="3444604" y="2236474"/>
                <a:chExt cx="748146" cy="904749"/>
              </a:xfrm>
            </p:grpSpPr>
            <p:sp>
              <p:nvSpPr>
                <p:cNvPr id="26" name="Donut 25">
                  <a:extLst>
                    <a:ext uri="{FF2B5EF4-FFF2-40B4-BE49-F238E27FC236}">
                      <a16:creationId xmlns:a16="http://schemas.microsoft.com/office/drawing/2014/main" id="{6916306F-CA3A-B346-AC75-5162A7A84B40}"/>
                    </a:ext>
                  </a:extLst>
                </p:cNvPr>
                <p:cNvSpPr/>
                <p:nvPr/>
              </p:nvSpPr>
              <p:spPr>
                <a:xfrm>
                  <a:off x="3444604" y="2318414"/>
                  <a:ext cx="748146" cy="748146"/>
                </a:xfrm>
                <a:prstGeom prst="donut">
                  <a:avLst>
                    <a:gd name="adj" fmla="val 15029"/>
                  </a:avLst>
                </a:prstGeom>
                <a:solidFill>
                  <a:schemeClr val="accent2">
                    <a:lumMod val="20000"/>
                    <a:lumOff val="80000"/>
                  </a:schemeClr>
                </a:solidFill>
                <a:ln w="19050">
                  <a:solidFill>
                    <a:schemeClr val="accent2">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N">
                    <a:solidFill>
                      <a:schemeClr val="tx1"/>
                    </a:solidFill>
                  </a:endParaRPr>
                </a:p>
              </p:txBody>
            </p:sp>
            <p:sp>
              <p:nvSpPr>
                <p:cNvPr id="27" name="Chevron 26">
                  <a:extLst>
                    <a:ext uri="{FF2B5EF4-FFF2-40B4-BE49-F238E27FC236}">
                      <a16:creationId xmlns:a16="http://schemas.microsoft.com/office/drawing/2014/main" id="{6BAE6E55-DB2E-F548-BDBA-A9BFDC01AE0A}"/>
                    </a:ext>
                  </a:extLst>
                </p:cNvPr>
                <p:cNvSpPr/>
                <p:nvPr/>
              </p:nvSpPr>
              <p:spPr>
                <a:xfrm rot="10800000">
                  <a:off x="3725167" y="2236474"/>
                  <a:ext cx="187019" cy="258365"/>
                </a:xfrm>
                <a:prstGeom prst="chevron">
                  <a:avLst/>
                </a:prstGeom>
                <a:solidFill>
                  <a:schemeClr val="accent2">
                    <a:lumMod val="20000"/>
                    <a:lumOff val="80000"/>
                  </a:schemeClr>
                </a:solidFill>
                <a:ln w="19050">
                  <a:solidFill>
                    <a:schemeClr val="accent2">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N">
                    <a:solidFill>
                      <a:schemeClr val="tx1"/>
                    </a:solidFill>
                  </a:endParaRPr>
                </a:p>
              </p:txBody>
            </p:sp>
            <p:sp>
              <p:nvSpPr>
                <p:cNvPr id="28" name="Chevron 27">
                  <a:extLst>
                    <a:ext uri="{FF2B5EF4-FFF2-40B4-BE49-F238E27FC236}">
                      <a16:creationId xmlns:a16="http://schemas.microsoft.com/office/drawing/2014/main" id="{5E92B4B3-EA44-E64F-BFE9-26D94E8759F8}"/>
                    </a:ext>
                  </a:extLst>
                </p:cNvPr>
                <p:cNvSpPr/>
                <p:nvPr/>
              </p:nvSpPr>
              <p:spPr>
                <a:xfrm>
                  <a:off x="3725168" y="2882857"/>
                  <a:ext cx="187018" cy="258366"/>
                </a:xfrm>
                <a:prstGeom prst="chevron">
                  <a:avLst/>
                </a:prstGeom>
                <a:solidFill>
                  <a:schemeClr val="accent2">
                    <a:lumMod val="20000"/>
                    <a:lumOff val="80000"/>
                  </a:schemeClr>
                </a:solidFill>
                <a:ln w="19050">
                  <a:solidFill>
                    <a:schemeClr val="accent2">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N">
                    <a:solidFill>
                      <a:schemeClr val="tx1"/>
                    </a:solidFill>
                  </a:endParaRPr>
                </a:p>
              </p:txBody>
            </p:sp>
          </p:grpSp>
          <p:sp>
            <p:nvSpPr>
              <p:cNvPr id="29" name="TextBox 28">
                <a:extLst>
                  <a:ext uri="{FF2B5EF4-FFF2-40B4-BE49-F238E27FC236}">
                    <a16:creationId xmlns:a16="http://schemas.microsoft.com/office/drawing/2014/main" id="{AC289CF5-8D5B-7048-BDBA-85A4E17E0F28}"/>
                  </a:ext>
                </a:extLst>
              </p:cNvPr>
              <p:cNvSpPr txBox="1"/>
              <p:nvPr/>
            </p:nvSpPr>
            <p:spPr>
              <a:xfrm>
                <a:off x="995418" y="3005323"/>
                <a:ext cx="3187868" cy="584775"/>
              </a:xfrm>
              <a:prstGeom prst="rect">
                <a:avLst/>
              </a:prstGeom>
              <a:noFill/>
            </p:spPr>
            <p:txBody>
              <a:bodyPr wrap="square">
                <a:spAutoFit/>
              </a:bodyPr>
              <a:lstStyle/>
              <a:p>
                <a:pPr algn="ctr"/>
                <a:r>
                  <a:rPr lang="en-US" sz="1600" b="1" i="1" dirty="0">
                    <a:solidFill>
                      <a:schemeClr val="accent2">
                        <a:lumMod val="50000"/>
                      </a:schemeClr>
                    </a:solidFill>
                    <a:latin typeface="Times New Roman" panose="02020603050405020304" pitchFamily="18" charset="0"/>
                    <a:ea typeface="DengXian" panose="02010600030101010101" pitchFamily="2" charset="-122"/>
                  </a:rPr>
                  <a:t>C</a:t>
                </a:r>
                <a:r>
                  <a:rPr lang="en-US" sz="1600" b="1" i="1" dirty="0">
                    <a:solidFill>
                      <a:schemeClr val="accent2">
                        <a:lumMod val="50000"/>
                      </a:schemeClr>
                    </a:solidFill>
                    <a:effectLst/>
                    <a:latin typeface="Times New Roman" panose="02020603050405020304" pitchFamily="18" charset="0"/>
                    <a:ea typeface="DengXian" panose="02010600030101010101" pitchFamily="2" charset="-122"/>
                  </a:rPr>
                  <a:t>onversion 1: </a:t>
                </a:r>
                <a:r>
                  <a:rPr lang="en-US" sz="1600" i="1" dirty="0">
                    <a:solidFill>
                      <a:schemeClr val="accent2">
                        <a:lumMod val="50000"/>
                      </a:schemeClr>
                    </a:solidFill>
                    <a:effectLst/>
                    <a:latin typeface="Times New Roman" panose="02020603050405020304" pitchFamily="18" charset="0"/>
                    <a:ea typeface="DengXian" panose="02010600030101010101" pitchFamily="2" charset="-122"/>
                  </a:rPr>
                  <a:t>Pledge</a:t>
                </a:r>
                <a:r>
                  <a:rPr lang="en-US" sz="1600" b="1" dirty="0">
                    <a:solidFill>
                      <a:schemeClr val="accent2">
                        <a:lumMod val="50000"/>
                      </a:schemeClr>
                    </a:solidFill>
                    <a:effectLst/>
                    <a:latin typeface="Times New Roman" panose="02020603050405020304" pitchFamily="18" charset="0"/>
                    <a:ea typeface="DengXian" panose="02010600030101010101" pitchFamily="2" charset="-122"/>
                  </a:rPr>
                  <a:t> </a:t>
                </a:r>
                <a:r>
                  <a:rPr lang="en-US" sz="1600" dirty="0">
                    <a:solidFill>
                      <a:schemeClr val="accent2">
                        <a:lumMod val="50000"/>
                      </a:schemeClr>
                    </a:solidFill>
                    <a:effectLst/>
                    <a:latin typeface="Times New Roman" panose="02020603050405020304" pitchFamily="18" charset="0"/>
                    <a:ea typeface="DengXian" panose="02010600030101010101" pitchFamily="2" charset="-122"/>
                  </a:rPr>
                  <a:t>for high-quality and high</a:t>
                </a:r>
                <a:r>
                  <a:rPr lang="en-US" altLang="zh-CN" sz="1600" dirty="0">
                    <a:solidFill>
                      <a:schemeClr val="accent2">
                        <a:lumMod val="50000"/>
                      </a:schemeClr>
                    </a:solidFill>
                    <a:effectLst/>
                    <a:latin typeface="Times New Roman" panose="02020603050405020304" pitchFamily="18" charset="0"/>
                    <a:ea typeface="DengXian" panose="02010600030101010101" pitchFamily="2" charset="-122"/>
                  </a:rPr>
                  <a:t>-</a:t>
                </a:r>
                <a:r>
                  <a:rPr lang="en-US" sz="1600" dirty="0">
                    <a:solidFill>
                      <a:schemeClr val="accent2">
                        <a:lumMod val="50000"/>
                      </a:schemeClr>
                    </a:solidFill>
                    <a:effectLst/>
                    <a:latin typeface="Times New Roman" panose="02020603050405020304" pitchFamily="18" charset="0"/>
                    <a:ea typeface="DengXian" panose="02010600030101010101" pitchFamily="2" charset="-122"/>
                  </a:rPr>
                  <a:t>liquidity assets</a:t>
                </a:r>
                <a:endParaRPr lang="en-CN" sz="1600" dirty="0">
                  <a:solidFill>
                    <a:schemeClr val="accent2">
                      <a:lumMod val="50000"/>
                    </a:schemeClr>
                  </a:solidFill>
                </a:endParaRPr>
              </a:p>
            </p:txBody>
          </p:sp>
          <p:grpSp>
            <p:nvGrpSpPr>
              <p:cNvPr id="31" name="Group 30">
                <a:extLst>
                  <a:ext uri="{FF2B5EF4-FFF2-40B4-BE49-F238E27FC236}">
                    <a16:creationId xmlns:a16="http://schemas.microsoft.com/office/drawing/2014/main" id="{F8C2B820-9A67-BC41-A592-8812DA4E418B}"/>
                  </a:ext>
                </a:extLst>
              </p:cNvPr>
              <p:cNvGrpSpPr/>
              <p:nvPr/>
            </p:nvGrpSpPr>
            <p:grpSpPr>
              <a:xfrm>
                <a:off x="7689536" y="2171936"/>
                <a:ext cx="638360" cy="771983"/>
                <a:chOff x="3444604" y="2236474"/>
                <a:chExt cx="748146" cy="904749"/>
              </a:xfrm>
              <a:solidFill>
                <a:schemeClr val="accent5">
                  <a:lumMod val="20000"/>
                  <a:lumOff val="80000"/>
                </a:schemeClr>
              </a:solidFill>
            </p:grpSpPr>
            <p:sp>
              <p:nvSpPr>
                <p:cNvPr id="32" name="Donut 31">
                  <a:extLst>
                    <a:ext uri="{FF2B5EF4-FFF2-40B4-BE49-F238E27FC236}">
                      <a16:creationId xmlns:a16="http://schemas.microsoft.com/office/drawing/2014/main" id="{5EE122E2-E9E9-6549-AF84-A449FF4A244D}"/>
                    </a:ext>
                  </a:extLst>
                </p:cNvPr>
                <p:cNvSpPr/>
                <p:nvPr/>
              </p:nvSpPr>
              <p:spPr>
                <a:xfrm>
                  <a:off x="3444604" y="2318414"/>
                  <a:ext cx="748146" cy="748146"/>
                </a:xfrm>
                <a:prstGeom prst="donut">
                  <a:avLst>
                    <a:gd name="adj" fmla="val 15029"/>
                  </a:avLst>
                </a:prstGeom>
                <a:grpFill/>
                <a:ln w="19050">
                  <a:solidFill>
                    <a:schemeClr val="accent5">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N">
                    <a:solidFill>
                      <a:schemeClr val="tx1"/>
                    </a:solidFill>
                  </a:endParaRPr>
                </a:p>
              </p:txBody>
            </p:sp>
            <p:sp>
              <p:nvSpPr>
                <p:cNvPr id="33" name="Chevron 32">
                  <a:extLst>
                    <a:ext uri="{FF2B5EF4-FFF2-40B4-BE49-F238E27FC236}">
                      <a16:creationId xmlns:a16="http://schemas.microsoft.com/office/drawing/2014/main" id="{CF2D3F03-DBA5-3645-856E-776BF2F95313}"/>
                    </a:ext>
                  </a:extLst>
                </p:cNvPr>
                <p:cNvSpPr/>
                <p:nvPr/>
              </p:nvSpPr>
              <p:spPr>
                <a:xfrm rot="10800000">
                  <a:off x="3725167" y="2236474"/>
                  <a:ext cx="187019" cy="258365"/>
                </a:xfrm>
                <a:prstGeom prst="chevron">
                  <a:avLst/>
                </a:prstGeom>
                <a:grpFill/>
                <a:ln w="19050">
                  <a:solidFill>
                    <a:schemeClr val="accent5">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N">
                    <a:solidFill>
                      <a:schemeClr val="tx1"/>
                    </a:solidFill>
                  </a:endParaRPr>
                </a:p>
              </p:txBody>
            </p:sp>
            <p:sp>
              <p:nvSpPr>
                <p:cNvPr id="34" name="Chevron 33">
                  <a:extLst>
                    <a:ext uri="{FF2B5EF4-FFF2-40B4-BE49-F238E27FC236}">
                      <a16:creationId xmlns:a16="http://schemas.microsoft.com/office/drawing/2014/main" id="{94373761-DFF5-2744-A7F3-874AACD39EA4}"/>
                    </a:ext>
                  </a:extLst>
                </p:cNvPr>
                <p:cNvSpPr/>
                <p:nvPr/>
              </p:nvSpPr>
              <p:spPr>
                <a:xfrm>
                  <a:off x="3725168" y="2882857"/>
                  <a:ext cx="187018" cy="258366"/>
                </a:xfrm>
                <a:prstGeom prst="chevron">
                  <a:avLst/>
                </a:prstGeom>
                <a:grpFill/>
                <a:ln w="19050">
                  <a:solidFill>
                    <a:schemeClr val="accent5">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N">
                    <a:solidFill>
                      <a:schemeClr val="tx1"/>
                    </a:solidFill>
                  </a:endParaRPr>
                </a:p>
              </p:txBody>
            </p:sp>
          </p:grpSp>
          <p:sp>
            <p:nvSpPr>
              <p:cNvPr id="39" name="TextBox 38">
                <a:extLst>
                  <a:ext uri="{FF2B5EF4-FFF2-40B4-BE49-F238E27FC236}">
                    <a16:creationId xmlns:a16="http://schemas.microsoft.com/office/drawing/2014/main" id="{0D268550-CB6C-E348-82C9-A7CDFABCBCB9}"/>
                  </a:ext>
                </a:extLst>
              </p:cNvPr>
              <p:cNvSpPr txBox="1"/>
              <p:nvPr/>
            </p:nvSpPr>
            <p:spPr>
              <a:xfrm>
                <a:off x="8008707" y="3006192"/>
                <a:ext cx="3187868" cy="584775"/>
              </a:xfrm>
              <a:prstGeom prst="rect">
                <a:avLst/>
              </a:prstGeom>
              <a:noFill/>
            </p:spPr>
            <p:txBody>
              <a:bodyPr wrap="square">
                <a:spAutoFit/>
              </a:bodyPr>
              <a:lstStyle/>
              <a:p>
                <a:pPr algn="ctr"/>
                <a:r>
                  <a:rPr lang="en-US" sz="1600" b="1" i="1" dirty="0">
                    <a:solidFill>
                      <a:schemeClr val="accent1"/>
                    </a:solidFill>
                    <a:latin typeface="Times New Roman" panose="02020603050405020304" pitchFamily="18" charset="0"/>
                    <a:ea typeface="DengXian" panose="02010600030101010101" pitchFamily="2" charset="-122"/>
                  </a:rPr>
                  <a:t>Conversion 2: </a:t>
                </a:r>
                <a:r>
                  <a:rPr lang="en-US" sz="1600" i="1" dirty="0">
                    <a:solidFill>
                      <a:schemeClr val="accent1"/>
                    </a:solidFill>
                    <a:latin typeface="Times New Roman" panose="02020603050405020304" pitchFamily="18" charset="0"/>
                    <a:ea typeface="DengXian" panose="02010600030101010101" pitchFamily="2" charset="-122"/>
                  </a:rPr>
                  <a:t>Repurchase</a:t>
                </a:r>
                <a:r>
                  <a:rPr lang="en-US" sz="1600" dirty="0">
                    <a:solidFill>
                      <a:schemeClr val="accent1"/>
                    </a:solidFill>
                    <a:latin typeface="Times New Roman" panose="02020603050405020304" pitchFamily="18" charset="0"/>
                    <a:ea typeface="DengXian" panose="02010600030101010101" pitchFamily="2" charset="-122"/>
                  </a:rPr>
                  <a:t> access to special funding</a:t>
                </a:r>
                <a:endParaRPr lang="en-CN" sz="1600" dirty="0">
                  <a:solidFill>
                    <a:schemeClr val="accent1"/>
                  </a:solidFill>
                </a:endParaRPr>
              </a:p>
            </p:txBody>
          </p:sp>
          <p:sp>
            <p:nvSpPr>
              <p:cNvPr id="41" name="Rectangle 40">
                <a:extLst>
                  <a:ext uri="{FF2B5EF4-FFF2-40B4-BE49-F238E27FC236}">
                    <a16:creationId xmlns:a16="http://schemas.microsoft.com/office/drawing/2014/main" id="{83A4A1CA-6D8C-B94B-9920-EA2A3CF1056D}"/>
                  </a:ext>
                </a:extLst>
              </p:cNvPr>
              <p:cNvSpPr/>
              <p:nvPr/>
            </p:nvSpPr>
            <p:spPr>
              <a:xfrm>
                <a:off x="4820853" y="3591867"/>
                <a:ext cx="2550289" cy="646495"/>
              </a:xfrm>
              <a:prstGeom prst="rect">
                <a:avLst/>
              </a:prstGeom>
              <a:solidFill>
                <a:schemeClr val="accent6">
                  <a:lumMod val="20000"/>
                  <a:lumOff val="80000"/>
                </a:schemeClr>
              </a:solidFill>
              <a:ln w="19050">
                <a:solidFill>
                  <a:schemeClr val="tx1"/>
                </a:solidFill>
                <a:prstDash val="dash"/>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N" b="1" dirty="0">
                    <a:solidFill>
                      <a:schemeClr val="tx1"/>
                    </a:solidFill>
                    <a:latin typeface="Times New Roman" panose="02020603050405020304" pitchFamily="18" charset="0"/>
                    <a:cs typeface="Times New Roman" panose="02020603050405020304" pitchFamily="18" charset="0"/>
                  </a:rPr>
                  <a:t>Stock Market</a:t>
                </a:r>
              </a:p>
            </p:txBody>
          </p:sp>
          <p:sp>
            <p:nvSpPr>
              <p:cNvPr id="42" name="Down Arrow 41">
                <a:extLst>
                  <a:ext uri="{FF2B5EF4-FFF2-40B4-BE49-F238E27FC236}">
                    <a16:creationId xmlns:a16="http://schemas.microsoft.com/office/drawing/2014/main" id="{B4FC56CB-B9FE-5949-9416-98A56880C371}"/>
                  </a:ext>
                </a:extLst>
              </p:cNvPr>
              <p:cNvSpPr/>
              <p:nvPr/>
            </p:nvSpPr>
            <p:spPr>
              <a:xfrm>
                <a:off x="6841206" y="3297710"/>
                <a:ext cx="529936" cy="224375"/>
              </a:xfrm>
              <a:prstGeom prst="downArrow">
                <a:avLst/>
              </a:prstGeom>
              <a:solidFill>
                <a:srgbClr val="7030A0"/>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N"/>
              </a:p>
            </p:txBody>
          </p:sp>
        </p:grpSp>
        <p:sp>
          <p:nvSpPr>
            <p:cNvPr id="47" name="Rounded Rectangle 46">
              <a:extLst>
                <a:ext uri="{FF2B5EF4-FFF2-40B4-BE49-F238E27FC236}">
                  <a16:creationId xmlns:a16="http://schemas.microsoft.com/office/drawing/2014/main" id="{FAFDE21A-D877-8749-812F-354FFC7E8B8C}"/>
                </a:ext>
              </a:extLst>
            </p:cNvPr>
            <p:cNvSpPr/>
            <p:nvPr/>
          </p:nvSpPr>
          <p:spPr>
            <a:xfrm>
              <a:off x="734288" y="3273332"/>
              <a:ext cx="10723419" cy="1919862"/>
            </a:xfrm>
            <a:prstGeom prst="roundRect">
              <a:avLst>
                <a:gd name="adj" fmla="val 2453"/>
              </a:avLst>
            </a:prstGeom>
            <a:noFill/>
            <a:ln w="19050">
              <a:solidFill>
                <a:srgbClr val="C00000"/>
              </a:solidFill>
              <a:prstDash val="solid"/>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t"/>
            <a:lstStyle/>
            <a:p>
              <a:endParaRPr lang="en-CN" b="1" i="1" dirty="0">
                <a:solidFill>
                  <a:srgbClr val="C00000"/>
                </a:solidFill>
                <a:latin typeface="Times New Roman" panose="02020603050405020304" pitchFamily="18" charset="0"/>
                <a:ea typeface="KaiTi" panose="02010609060101010101" pitchFamily="49" charset="-122"/>
                <a:cs typeface="Times New Roman" panose="02020603050405020304" pitchFamily="18" charset="0"/>
              </a:endParaRPr>
            </a:p>
          </p:txBody>
        </p:sp>
        <p:sp>
          <p:nvSpPr>
            <p:cNvPr id="48" name="TextBox 47">
              <a:extLst>
                <a:ext uri="{FF2B5EF4-FFF2-40B4-BE49-F238E27FC236}">
                  <a16:creationId xmlns:a16="http://schemas.microsoft.com/office/drawing/2014/main" id="{0FD21034-51E0-1B43-8E2F-398546A193DA}"/>
                </a:ext>
              </a:extLst>
            </p:cNvPr>
            <p:cNvSpPr txBox="1"/>
            <p:nvPr/>
          </p:nvSpPr>
          <p:spPr>
            <a:xfrm>
              <a:off x="734290" y="4757818"/>
              <a:ext cx="2648265" cy="435376"/>
            </a:xfrm>
            <a:prstGeom prst="rect">
              <a:avLst/>
            </a:prstGeom>
            <a:noFill/>
          </p:spPr>
          <p:txBody>
            <a:bodyPr wrap="square">
              <a:spAutoFit/>
            </a:bodyPr>
            <a:lstStyle/>
            <a:p>
              <a:pPr>
                <a:lnSpc>
                  <a:spcPct val="120000"/>
                </a:lnSpc>
              </a:pPr>
              <a:r>
                <a:rPr lang="en-US" sz="2000" b="1" i="1" dirty="0">
                  <a:solidFill>
                    <a:srgbClr val="C00000"/>
                  </a:solidFill>
                  <a:effectLst/>
                  <a:latin typeface="Times New Roman" panose="02020603050405020304" pitchFamily="18" charset="0"/>
                  <a:ea typeface="DengXian" panose="02010600030101010101" pitchFamily="2" charset="-122"/>
                </a:rPr>
                <a:t>Policy Effects</a:t>
              </a:r>
              <a:endParaRPr lang="en-CN" sz="2000" b="1" i="1" dirty="0">
                <a:solidFill>
                  <a:srgbClr val="C00000"/>
                </a:solidFill>
              </a:endParaRPr>
            </a:p>
          </p:txBody>
        </p:sp>
        <p:grpSp>
          <p:nvGrpSpPr>
            <p:cNvPr id="54" name="Group 53">
              <a:extLst>
                <a:ext uri="{FF2B5EF4-FFF2-40B4-BE49-F238E27FC236}">
                  <a16:creationId xmlns:a16="http://schemas.microsoft.com/office/drawing/2014/main" id="{613AF38E-39D1-B24F-A72F-1712DE4928F3}"/>
                </a:ext>
              </a:extLst>
            </p:cNvPr>
            <p:cNvGrpSpPr/>
            <p:nvPr/>
          </p:nvGrpSpPr>
          <p:grpSpPr>
            <a:xfrm>
              <a:off x="995420" y="3429000"/>
              <a:ext cx="10201166" cy="1247028"/>
              <a:chOff x="995419" y="3577643"/>
              <a:chExt cx="10201166" cy="1247028"/>
            </a:xfrm>
          </p:grpSpPr>
          <p:sp>
            <p:nvSpPr>
              <p:cNvPr id="51" name="Rectangle 50">
                <a:extLst>
                  <a:ext uri="{FF2B5EF4-FFF2-40B4-BE49-F238E27FC236}">
                    <a16:creationId xmlns:a16="http://schemas.microsoft.com/office/drawing/2014/main" id="{65A10AA2-9E82-CC49-AD19-4B874F1317C1}"/>
                  </a:ext>
                </a:extLst>
              </p:cNvPr>
              <p:cNvSpPr/>
              <p:nvPr/>
            </p:nvSpPr>
            <p:spPr>
              <a:xfrm>
                <a:off x="995419" y="3577643"/>
                <a:ext cx="2550289" cy="1246159"/>
              </a:xfrm>
              <a:prstGeom prst="rect">
                <a:avLst/>
              </a:prstGeom>
              <a:solidFill>
                <a:schemeClr val="bg1">
                  <a:lumMod val="95000"/>
                </a:schemeClr>
              </a:solidFill>
              <a:ln w="19050">
                <a:solidFill>
                  <a:schemeClr val="tx1"/>
                </a:solidFill>
                <a:prstDash val="dash"/>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a:r>
                  <a:rPr lang="en-US" dirty="0">
                    <a:solidFill>
                      <a:srgbClr val="000000"/>
                    </a:solidFill>
                    <a:effectLst/>
                    <a:latin typeface="Times New Roman" panose="02020603050405020304" pitchFamily="18" charset="0"/>
                    <a:ea typeface="KaiTi" panose="02010609060101010101" pitchFamily="49" charset="-122"/>
                  </a:rPr>
                  <a:t>The </a:t>
                </a:r>
                <a:r>
                  <a:rPr lang="en-US" b="1" dirty="0">
                    <a:solidFill>
                      <a:srgbClr val="000000"/>
                    </a:solidFill>
                    <a:effectLst/>
                    <a:latin typeface="Times New Roman" panose="02020603050405020304" pitchFamily="18" charset="0"/>
                    <a:ea typeface="KaiTi" panose="02010609060101010101" pitchFamily="49" charset="-122"/>
                  </a:rPr>
                  <a:t>first product</a:t>
                </a:r>
                <a:r>
                  <a:rPr lang="en-US" dirty="0">
                    <a:solidFill>
                      <a:srgbClr val="000000"/>
                    </a:solidFill>
                    <a:effectLst/>
                    <a:latin typeface="Times New Roman" panose="02020603050405020304" pitchFamily="18" charset="0"/>
                    <a:ea typeface="KaiTi" panose="02010609060101010101" pitchFamily="49" charset="-122"/>
                  </a:rPr>
                  <a:t> created by the PBOC specifically for the development of asset capital markets</a:t>
                </a:r>
                <a:endParaRPr lang="en-CN" dirty="0"/>
              </a:p>
            </p:txBody>
          </p:sp>
          <p:sp>
            <p:nvSpPr>
              <p:cNvPr id="52" name="Rectangle 51">
                <a:extLst>
                  <a:ext uri="{FF2B5EF4-FFF2-40B4-BE49-F238E27FC236}">
                    <a16:creationId xmlns:a16="http://schemas.microsoft.com/office/drawing/2014/main" id="{2DF79633-D7F7-3C48-993D-754A5C3D9CE4}"/>
                  </a:ext>
                </a:extLst>
              </p:cNvPr>
              <p:cNvSpPr/>
              <p:nvPr/>
            </p:nvSpPr>
            <p:spPr>
              <a:xfrm>
                <a:off x="4022749" y="3578512"/>
                <a:ext cx="4146504" cy="1246159"/>
              </a:xfrm>
              <a:prstGeom prst="rect">
                <a:avLst/>
              </a:prstGeom>
              <a:solidFill>
                <a:schemeClr val="bg1">
                  <a:lumMod val="95000"/>
                </a:schemeClr>
              </a:solidFill>
              <a:ln w="19050">
                <a:solidFill>
                  <a:schemeClr val="tx1"/>
                </a:solidFill>
                <a:prstDash val="dash"/>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a:r>
                  <a:rPr lang="en-US" dirty="0">
                    <a:solidFill>
                      <a:srgbClr val="000000"/>
                    </a:solidFill>
                    <a:latin typeface="Times New Roman" panose="02020603050405020304" pitchFamily="18" charset="0"/>
                    <a:ea typeface="KaiTi" panose="02010609060101010101" pitchFamily="49" charset="-122"/>
                  </a:rPr>
                  <a:t>T</a:t>
                </a:r>
                <a:r>
                  <a:rPr lang="en-US" sz="1800" dirty="0">
                    <a:solidFill>
                      <a:srgbClr val="000000"/>
                    </a:solidFill>
                    <a:effectLst/>
                    <a:latin typeface="Times New Roman" panose="02020603050405020304" pitchFamily="18" charset="0"/>
                    <a:ea typeface="KaiTi" panose="02010609060101010101" pitchFamily="49" charset="-122"/>
                  </a:rPr>
                  <a:t>he rapid implementation of SFISF shows positive signals, which is </a:t>
                </a:r>
                <a:r>
                  <a:rPr lang="en-US" sz="1800" b="1" dirty="0">
                    <a:solidFill>
                      <a:srgbClr val="000000"/>
                    </a:solidFill>
                    <a:effectLst/>
                    <a:latin typeface="Times New Roman" panose="02020603050405020304" pitchFamily="18" charset="0"/>
                    <a:ea typeface="KaiTi" panose="02010609060101010101" pitchFamily="49" charset="-122"/>
                  </a:rPr>
                  <a:t>very helpful to boost the confidence </a:t>
                </a:r>
                <a:r>
                  <a:rPr lang="en-US" sz="1800" dirty="0">
                    <a:solidFill>
                      <a:srgbClr val="000000"/>
                    </a:solidFill>
                    <a:effectLst/>
                    <a:latin typeface="Times New Roman" panose="02020603050405020304" pitchFamily="18" charset="0"/>
                    <a:ea typeface="KaiTi" panose="02010609060101010101" pitchFamily="49" charset="-122"/>
                  </a:rPr>
                  <a:t>of the capital market</a:t>
                </a:r>
                <a:r>
                  <a:rPr lang="en-CN" dirty="0">
                    <a:effectLst/>
                  </a:rPr>
                  <a:t> </a:t>
                </a:r>
                <a:endParaRPr lang="en-CN" dirty="0"/>
              </a:p>
            </p:txBody>
          </p:sp>
          <p:sp>
            <p:nvSpPr>
              <p:cNvPr id="53" name="Rectangle 52">
                <a:extLst>
                  <a:ext uri="{FF2B5EF4-FFF2-40B4-BE49-F238E27FC236}">
                    <a16:creationId xmlns:a16="http://schemas.microsoft.com/office/drawing/2014/main" id="{5D75A62D-E61D-3142-BD9C-6798928CFC9C}"/>
                  </a:ext>
                </a:extLst>
              </p:cNvPr>
              <p:cNvSpPr/>
              <p:nvPr/>
            </p:nvSpPr>
            <p:spPr>
              <a:xfrm>
                <a:off x="8646293" y="3578512"/>
                <a:ext cx="2550292" cy="1246159"/>
              </a:xfrm>
              <a:prstGeom prst="rect">
                <a:avLst/>
              </a:prstGeom>
              <a:solidFill>
                <a:schemeClr val="bg1">
                  <a:lumMod val="95000"/>
                </a:schemeClr>
              </a:solidFill>
              <a:ln w="19050">
                <a:solidFill>
                  <a:schemeClr val="tx1"/>
                </a:solidFill>
                <a:prstDash val="dash"/>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a:r>
                  <a:rPr lang="en-US" dirty="0">
                    <a:solidFill>
                      <a:srgbClr val="000000"/>
                    </a:solidFill>
                    <a:latin typeface="Times New Roman" panose="02020603050405020304" pitchFamily="18" charset="0"/>
                    <a:ea typeface="KaiTi" panose="02010609060101010101" pitchFamily="49" charset="-122"/>
                  </a:rPr>
                  <a:t>C</a:t>
                </a:r>
                <a:r>
                  <a:rPr lang="en-US" sz="1800" dirty="0">
                    <a:solidFill>
                      <a:srgbClr val="000000"/>
                    </a:solidFill>
                    <a:effectLst/>
                    <a:latin typeface="Times New Roman" panose="02020603050405020304" pitchFamily="18" charset="0"/>
                    <a:ea typeface="KaiTi" panose="02010609060101010101" pitchFamily="49" charset="-122"/>
                  </a:rPr>
                  <a:t>onsolidating the bottom area of the capital market</a:t>
                </a:r>
                <a:r>
                  <a:rPr lang="en-CN" dirty="0">
                    <a:effectLst/>
                  </a:rPr>
                  <a:t> </a:t>
                </a:r>
                <a:r>
                  <a:rPr lang="en-US" sz="1800" dirty="0">
                    <a:solidFill>
                      <a:srgbClr val="000000"/>
                    </a:solidFill>
                    <a:effectLst/>
                    <a:latin typeface="Times New Roman" panose="02020603050405020304" pitchFamily="18" charset="0"/>
                    <a:ea typeface="KaiTi" panose="02010609060101010101" pitchFamily="49" charset="-122"/>
                  </a:rPr>
                  <a:t>since 9.24</a:t>
                </a:r>
                <a:r>
                  <a:rPr lang="en-CN" dirty="0">
                    <a:effectLst/>
                  </a:rPr>
                  <a:t> </a:t>
                </a:r>
                <a:endParaRPr lang="en-CN" dirty="0"/>
              </a:p>
            </p:txBody>
          </p:sp>
        </p:grpSp>
      </p:grpSp>
    </p:spTree>
    <p:extLst>
      <p:ext uri="{BB962C8B-B14F-4D97-AF65-F5344CB8AC3E}">
        <p14:creationId xmlns:p14="http://schemas.microsoft.com/office/powerpoint/2010/main" val="25238561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C411F158-1A5F-E443-961C-266287E55A77}"/>
              </a:ext>
            </a:extLst>
          </p:cNvPr>
          <p:cNvPicPr>
            <a:picLocks noChangeAspect="1"/>
          </p:cNvPicPr>
          <p:nvPr/>
        </p:nvPicPr>
        <p:blipFill rotWithShape="1">
          <a:blip r:embed="rId2"/>
          <a:srcRect t="7898" b="5135"/>
          <a:stretch/>
        </p:blipFill>
        <p:spPr>
          <a:xfrm>
            <a:off x="0" y="446901"/>
            <a:ext cx="12192000" cy="5964197"/>
          </a:xfrm>
          <a:prstGeom prst="rect">
            <a:avLst/>
          </a:prstGeom>
        </p:spPr>
      </p:pic>
      <p:sp>
        <p:nvSpPr>
          <p:cNvPr id="49" name="Rectangle 48">
            <a:extLst>
              <a:ext uri="{FF2B5EF4-FFF2-40B4-BE49-F238E27FC236}">
                <a16:creationId xmlns:a16="http://schemas.microsoft.com/office/drawing/2014/main" id="{37A022B8-951C-8C4A-8D4D-5E69ECA877A4}"/>
              </a:ext>
            </a:extLst>
          </p:cNvPr>
          <p:cNvSpPr/>
          <p:nvPr/>
        </p:nvSpPr>
        <p:spPr>
          <a:xfrm>
            <a:off x="8379146" y="885523"/>
            <a:ext cx="3190122" cy="5014761"/>
          </a:xfrm>
          <a:prstGeom prst="rect">
            <a:avLst/>
          </a:prstGeom>
          <a:solidFill>
            <a:schemeClr val="accent5">
              <a:lumMod val="20000"/>
              <a:lumOff val="8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N" dirty="0">
              <a:solidFill>
                <a:schemeClr val="accent3">
                  <a:lumMod val="20000"/>
                  <a:lumOff val="80000"/>
                </a:schemeClr>
              </a:solidFill>
            </a:endParaRPr>
          </a:p>
        </p:txBody>
      </p:sp>
      <p:sp>
        <p:nvSpPr>
          <p:cNvPr id="48" name="Rectangle 47">
            <a:extLst>
              <a:ext uri="{FF2B5EF4-FFF2-40B4-BE49-F238E27FC236}">
                <a16:creationId xmlns:a16="http://schemas.microsoft.com/office/drawing/2014/main" id="{D6056247-6B0B-0B40-BAC9-660C12376F0A}"/>
              </a:ext>
            </a:extLst>
          </p:cNvPr>
          <p:cNvSpPr/>
          <p:nvPr/>
        </p:nvSpPr>
        <p:spPr>
          <a:xfrm>
            <a:off x="3724977" y="885524"/>
            <a:ext cx="4517265" cy="5014761"/>
          </a:xfrm>
          <a:prstGeom prst="rect">
            <a:avLst/>
          </a:prstGeom>
          <a:solidFill>
            <a:schemeClr val="tx2">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N" dirty="0">
              <a:solidFill>
                <a:schemeClr val="accent3">
                  <a:lumMod val="20000"/>
                  <a:lumOff val="80000"/>
                </a:schemeClr>
              </a:solidFill>
            </a:endParaRPr>
          </a:p>
        </p:txBody>
      </p:sp>
      <p:sp>
        <p:nvSpPr>
          <p:cNvPr id="47" name="Rectangle 46">
            <a:extLst>
              <a:ext uri="{FF2B5EF4-FFF2-40B4-BE49-F238E27FC236}">
                <a16:creationId xmlns:a16="http://schemas.microsoft.com/office/drawing/2014/main" id="{71E81B86-C998-444B-9B64-6C0664E81050}"/>
              </a:ext>
            </a:extLst>
          </p:cNvPr>
          <p:cNvSpPr/>
          <p:nvPr/>
        </p:nvSpPr>
        <p:spPr>
          <a:xfrm>
            <a:off x="182880" y="885524"/>
            <a:ext cx="3450449" cy="5014761"/>
          </a:xfrm>
          <a:prstGeom prst="rect">
            <a:avLst/>
          </a:prstGeom>
          <a:solidFill>
            <a:schemeClr val="bg1">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N"/>
          </a:p>
        </p:txBody>
      </p:sp>
      <p:sp>
        <p:nvSpPr>
          <p:cNvPr id="16" name="Oval 15">
            <a:extLst>
              <a:ext uri="{FF2B5EF4-FFF2-40B4-BE49-F238E27FC236}">
                <a16:creationId xmlns:a16="http://schemas.microsoft.com/office/drawing/2014/main" id="{76EDE888-E9C9-A84A-B9FB-316F59F32E32}"/>
              </a:ext>
            </a:extLst>
          </p:cNvPr>
          <p:cNvSpPr/>
          <p:nvPr/>
        </p:nvSpPr>
        <p:spPr>
          <a:xfrm>
            <a:off x="3861881" y="4830618"/>
            <a:ext cx="379919" cy="820882"/>
          </a:xfrm>
          <a:prstGeom prst="ellipse">
            <a:avLst/>
          </a:prstGeom>
          <a:no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N"/>
          </a:p>
        </p:txBody>
      </p:sp>
      <p:sp>
        <p:nvSpPr>
          <p:cNvPr id="19" name="TextBox 18">
            <a:extLst>
              <a:ext uri="{FF2B5EF4-FFF2-40B4-BE49-F238E27FC236}">
                <a16:creationId xmlns:a16="http://schemas.microsoft.com/office/drawing/2014/main" id="{2A7E1B47-E7AC-0343-95FC-6EA3BB4FFF1D}"/>
              </a:ext>
            </a:extLst>
          </p:cNvPr>
          <p:cNvSpPr txBox="1"/>
          <p:nvPr/>
        </p:nvSpPr>
        <p:spPr>
          <a:xfrm>
            <a:off x="4320343" y="4871727"/>
            <a:ext cx="2033872" cy="738664"/>
          </a:xfrm>
          <a:prstGeom prst="rect">
            <a:avLst/>
          </a:prstGeom>
          <a:noFill/>
        </p:spPr>
        <p:txBody>
          <a:bodyPr wrap="square" rtlCol="0">
            <a:spAutoFit/>
          </a:bodyPr>
          <a:lstStyle/>
          <a:p>
            <a:pPr algn="ctr"/>
            <a:r>
              <a:rPr lang="en-US" altLang="zh-CN" sz="1400" b="1" dirty="0">
                <a:solidFill>
                  <a:schemeClr val="bg1"/>
                </a:solidFill>
                <a:latin typeface="Times New Roman" panose="02020603050405020304" pitchFamily="18" charset="0"/>
                <a:cs typeface="Times New Roman" panose="02020603050405020304" pitchFamily="18" charset="0"/>
              </a:rPr>
              <a:t>9.24</a:t>
            </a:r>
            <a:r>
              <a:rPr lang="zh-CN" altLang="en-US" sz="1400" b="1" dirty="0">
                <a:solidFill>
                  <a:schemeClr val="bg1"/>
                </a:solidFill>
                <a:latin typeface="Times New Roman" panose="02020603050405020304" pitchFamily="18" charset="0"/>
                <a:cs typeface="Times New Roman" panose="02020603050405020304" pitchFamily="18" charset="0"/>
              </a:rPr>
              <a:t> </a:t>
            </a:r>
            <a:r>
              <a:rPr lang="en-US" altLang="zh-CN" sz="1400" b="1" dirty="0">
                <a:solidFill>
                  <a:schemeClr val="bg1"/>
                </a:solidFill>
                <a:latin typeface="Times New Roman" panose="02020603050405020304" pitchFamily="18" charset="0"/>
                <a:cs typeface="Times New Roman" panose="02020603050405020304" pitchFamily="18" charset="0"/>
              </a:rPr>
              <a:t>Announcing Monetary </a:t>
            </a:r>
          </a:p>
          <a:p>
            <a:pPr algn="ctr"/>
            <a:r>
              <a:rPr lang="en-US" altLang="zh-CN" sz="1400" b="1" dirty="0">
                <a:solidFill>
                  <a:schemeClr val="bg1"/>
                </a:solidFill>
                <a:latin typeface="Times New Roman" panose="02020603050405020304" pitchFamily="18" charset="0"/>
                <a:cs typeface="Times New Roman" panose="02020603050405020304" pitchFamily="18" charset="0"/>
              </a:rPr>
              <a:t>Easing Package </a:t>
            </a:r>
            <a:endParaRPr lang="en-CN" sz="1400" b="1" dirty="0">
              <a:solidFill>
                <a:schemeClr val="bg1"/>
              </a:solidFill>
              <a:latin typeface="Times New Roman" panose="02020603050405020304" pitchFamily="18" charset="0"/>
              <a:cs typeface="Times New Roman" panose="02020603050405020304" pitchFamily="18" charset="0"/>
            </a:endParaRPr>
          </a:p>
        </p:txBody>
      </p:sp>
      <p:sp>
        <p:nvSpPr>
          <p:cNvPr id="20" name="Oval 19">
            <a:extLst>
              <a:ext uri="{FF2B5EF4-FFF2-40B4-BE49-F238E27FC236}">
                <a16:creationId xmlns:a16="http://schemas.microsoft.com/office/drawing/2014/main" id="{9B19066C-D05E-DC43-ADC7-582E559AB956}"/>
              </a:ext>
            </a:extLst>
          </p:cNvPr>
          <p:cNvSpPr/>
          <p:nvPr/>
        </p:nvSpPr>
        <p:spPr>
          <a:xfrm>
            <a:off x="5044185" y="2634450"/>
            <a:ext cx="379919" cy="523220"/>
          </a:xfrm>
          <a:prstGeom prst="ellipse">
            <a:avLst/>
          </a:prstGeom>
          <a:no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N"/>
          </a:p>
        </p:txBody>
      </p:sp>
      <p:sp>
        <p:nvSpPr>
          <p:cNvPr id="21" name="TextBox 20">
            <a:extLst>
              <a:ext uri="{FF2B5EF4-FFF2-40B4-BE49-F238E27FC236}">
                <a16:creationId xmlns:a16="http://schemas.microsoft.com/office/drawing/2014/main" id="{F5C0B69B-A6FF-3C4E-93A6-9148612633F7}"/>
              </a:ext>
            </a:extLst>
          </p:cNvPr>
          <p:cNvSpPr txBox="1"/>
          <p:nvPr/>
        </p:nvSpPr>
        <p:spPr>
          <a:xfrm>
            <a:off x="4965063" y="1299983"/>
            <a:ext cx="2033873" cy="307777"/>
          </a:xfrm>
          <a:prstGeom prst="rect">
            <a:avLst/>
          </a:prstGeom>
          <a:noFill/>
        </p:spPr>
        <p:txBody>
          <a:bodyPr wrap="square" rtlCol="0">
            <a:spAutoFit/>
          </a:bodyPr>
          <a:lstStyle/>
          <a:p>
            <a:pPr algn="ctr"/>
            <a:r>
              <a:rPr lang="en-US" altLang="zh-CN" sz="1400" b="1" dirty="0">
                <a:solidFill>
                  <a:schemeClr val="bg1"/>
                </a:solidFill>
                <a:latin typeface="Times New Roman" panose="02020603050405020304" pitchFamily="18" charset="0"/>
                <a:cs typeface="Times New Roman" panose="02020603050405020304" pitchFamily="18" charset="0"/>
              </a:rPr>
              <a:t>10.10</a:t>
            </a:r>
            <a:r>
              <a:rPr lang="zh-CN" altLang="en-US" sz="1400" b="1" dirty="0">
                <a:solidFill>
                  <a:schemeClr val="bg1"/>
                </a:solidFill>
                <a:latin typeface="Times New Roman" panose="02020603050405020304" pitchFamily="18" charset="0"/>
                <a:cs typeface="Times New Roman" panose="02020603050405020304" pitchFamily="18" charset="0"/>
              </a:rPr>
              <a:t> </a:t>
            </a:r>
            <a:r>
              <a:rPr lang="en-US" sz="1400" b="1" dirty="0">
                <a:solidFill>
                  <a:schemeClr val="bg1"/>
                </a:solidFill>
                <a:effectLst/>
                <a:latin typeface="Times New Roman" panose="02020603050405020304" pitchFamily="18" charset="0"/>
                <a:ea typeface="KaiTi" panose="02010609060101010101" pitchFamily="49" charset="-122"/>
              </a:rPr>
              <a:t>Creation of SFISF</a:t>
            </a:r>
            <a:r>
              <a:rPr lang="en-CN" sz="1400" b="1" dirty="0">
                <a:solidFill>
                  <a:schemeClr val="bg1"/>
                </a:solidFill>
                <a:effectLst/>
              </a:rPr>
              <a:t> </a:t>
            </a:r>
            <a:endParaRPr lang="en-CN" sz="1400" b="1" dirty="0">
              <a:solidFill>
                <a:schemeClr val="bg1"/>
              </a:solidFill>
              <a:latin typeface="Times New Roman" panose="02020603050405020304" pitchFamily="18" charset="0"/>
              <a:cs typeface="Times New Roman" panose="02020603050405020304" pitchFamily="18" charset="0"/>
            </a:endParaRPr>
          </a:p>
        </p:txBody>
      </p:sp>
      <p:cxnSp>
        <p:nvCxnSpPr>
          <p:cNvPr id="26" name="Straight Arrow Connector 25">
            <a:extLst>
              <a:ext uri="{FF2B5EF4-FFF2-40B4-BE49-F238E27FC236}">
                <a16:creationId xmlns:a16="http://schemas.microsoft.com/office/drawing/2014/main" id="{865127C7-A23A-6B4F-8396-08824E9F6927}"/>
              </a:ext>
            </a:extLst>
          </p:cNvPr>
          <p:cNvCxnSpPr>
            <a:stCxn id="16" idx="6"/>
          </p:cNvCxnSpPr>
          <p:nvPr/>
        </p:nvCxnSpPr>
        <p:spPr>
          <a:xfrm>
            <a:off x="4241800" y="5241059"/>
            <a:ext cx="128069" cy="0"/>
          </a:xfrm>
          <a:prstGeom prst="straightConnector1">
            <a:avLst/>
          </a:prstGeom>
          <a:ln w="12700">
            <a:solidFill>
              <a:schemeClr val="bg1"/>
            </a:solidFill>
            <a:tailEnd type="stealth"/>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94D4BC7A-77C9-B74C-988E-DF9AB244393B}"/>
              </a:ext>
            </a:extLst>
          </p:cNvPr>
          <p:cNvCxnSpPr>
            <a:cxnSpLocks/>
            <a:stCxn id="20" idx="0"/>
          </p:cNvCxnSpPr>
          <p:nvPr/>
        </p:nvCxnSpPr>
        <p:spPr>
          <a:xfrm flipV="1">
            <a:off x="5234145" y="1550102"/>
            <a:ext cx="329400" cy="1084348"/>
          </a:xfrm>
          <a:prstGeom prst="straightConnector1">
            <a:avLst/>
          </a:prstGeom>
          <a:ln w="12700">
            <a:solidFill>
              <a:schemeClr val="bg1"/>
            </a:solidFill>
            <a:tailEnd type="stealth"/>
          </a:ln>
        </p:spPr>
        <p:style>
          <a:lnRef idx="1">
            <a:schemeClr val="accent1"/>
          </a:lnRef>
          <a:fillRef idx="0">
            <a:schemeClr val="accent1"/>
          </a:fillRef>
          <a:effectRef idx="0">
            <a:schemeClr val="accent1"/>
          </a:effectRef>
          <a:fontRef idx="minor">
            <a:schemeClr val="tx1"/>
          </a:fontRef>
        </p:style>
      </p:cxnSp>
      <p:sp>
        <p:nvSpPr>
          <p:cNvPr id="33" name="Oval 32">
            <a:extLst>
              <a:ext uri="{FF2B5EF4-FFF2-40B4-BE49-F238E27FC236}">
                <a16:creationId xmlns:a16="http://schemas.microsoft.com/office/drawing/2014/main" id="{E6EE198A-F937-7F4C-8000-44EF3279745B}"/>
              </a:ext>
            </a:extLst>
          </p:cNvPr>
          <p:cNvSpPr/>
          <p:nvPr/>
        </p:nvSpPr>
        <p:spPr>
          <a:xfrm>
            <a:off x="6051495" y="2905779"/>
            <a:ext cx="379919" cy="738664"/>
          </a:xfrm>
          <a:prstGeom prst="ellipse">
            <a:avLst/>
          </a:prstGeom>
          <a:no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N"/>
          </a:p>
        </p:txBody>
      </p:sp>
      <p:sp>
        <p:nvSpPr>
          <p:cNvPr id="34" name="TextBox 33">
            <a:extLst>
              <a:ext uri="{FF2B5EF4-FFF2-40B4-BE49-F238E27FC236}">
                <a16:creationId xmlns:a16="http://schemas.microsoft.com/office/drawing/2014/main" id="{CBAEE18E-BF96-674C-91E0-0659FA6CC1BA}"/>
              </a:ext>
            </a:extLst>
          </p:cNvPr>
          <p:cNvSpPr txBox="1"/>
          <p:nvPr/>
        </p:nvSpPr>
        <p:spPr>
          <a:xfrm>
            <a:off x="6251080" y="3701664"/>
            <a:ext cx="2033873" cy="307777"/>
          </a:xfrm>
          <a:prstGeom prst="rect">
            <a:avLst/>
          </a:prstGeom>
          <a:noFill/>
        </p:spPr>
        <p:txBody>
          <a:bodyPr wrap="square" rtlCol="0">
            <a:spAutoFit/>
          </a:bodyPr>
          <a:lstStyle/>
          <a:p>
            <a:pPr algn="ctr"/>
            <a:r>
              <a:rPr lang="en-US" altLang="zh-CN" sz="1400" b="1" dirty="0">
                <a:solidFill>
                  <a:schemeClr val="bg1"/>
                </a:solidFill>
                <a:latin typeface="Times New Roman" panose="02020603050405020304" pitchFamily="18" charset="0"/>
                <a:cs typeface="Times New Roman" panose="02020603050405020304" pitchFamily="18" charset="0"/>
              </a:rPr>
              <a:t>10.18</a:t>
            </a:r>
            <a:r>
              <a:rPr lang="zh-CN" altLang="en-US" sz="1400" b="1" dirty="0">
                <a:solidFill>
                  <a:schemeClr val="bg1"/>
                </a:solidFill>
                <a:latin typeface="Times New Roman" panose="02020603050405020304" pitchFamily="18" charset="0"/>
                <a:cs typeface="Times New Roman" panose="02020603050405020304" pitchFamily="18" charset="0"/>
              </a:rPr>
              <a:t> </a:t>
            </a:r>
            <a:r>
              <a:rPr lang="en-US" sz="1400" b="1" dirty="0">
                <a:solidFill>
                  <a:schemeClr val="bg1"/>
                </a:solidFill>
                <a:effectLst/>
                <a:latin typeface="Times New Roman" panose="02020603050405020304" pitchFamily="18" charset="0"/>
                <a:ea typeface="KaiTi" panose="02010609060101010101" pitchFamily="49" charset="-122"/>
              </a:rPr>
              <a:t>Issue a circular </a:t>
            </a:r>
            <a:endParaRPr lang="en-CN" sz="1400" b="1" dirty="0">
              <a:solidFill>
                <a:schemeClr val="bg1"/>
              </a:solidFill>
              <a:latin typeface="Times New Roman" panose="02020603050405020304" pitchFamily="18" charset="0"/>
              <a:cs typeface="Times New Roman" panose="02020603050405020304" pitchFamily="18" charset="0"/>
            </a:endParaRPr>
          </a:p>
        </p:txBody>
      </p:sp>
      <p:cxnSp>
        <p:nvCxnSpPr>
          <p:cNvPr id="35" name="Straight Arrow Connector 34">
            <a:extLst>
              <a:ext uri="{FF2B5EF4-FFF2-40B4-BE49-F238E27FC236}">
                <a16:creationId xmlns:a16="http://schemas.microsoft.com/office/drawing/2014/main" id="{5D07BA8A-F670-7247-87BF-54D416346CBE}"/>
              </a:ext>
            </a:extLst>
          </p:cNvPr>
          <p:cNvCxnSpPr>
            <a:cxnSpLocks/>
          </p:cNvCxnSpPr>
          <p:nvPr/>
        </p:nvCxnSpPr>
        <p:spPr>
          <a:xfrm>
            <a:off x="6431414" y="3280908"/>
            <a:ext cx="402523" cy="399622"/>
          </a:xfrm>
          <a:prstGeom prst="straightConnector1">
            <a:avLst/>
          </a:prstGeom>
          <a:ln w="12700">
            <a:solidFill>
              <a:schemeClr val="bg1"/>
            </a:solidFill>
            <a:tailEnd type="stealth"/>
          </a:ln>
        </p:spPr>
        <p:style>
          <a:lnRef idx="1">
            <a:schemeClr val="accent1"/>
          </a:lnRef>
          <a:fillRef idx="0">
            <a:schemeClr val="accent1"/>
          </a:fillRef>
          <a:effectRef idx="0">
            <a:schemeClr val="accent1"/>
          </a:effectRef>
          <a:fontRef idx="minor">
            <a:schemeClr val="tx1"/>
          </a:fontRef>
        </p:style>
      </p:cxnSp>
      <p:sp>
        <p:nvSpPr>
          <p:cNvPr id="38" name="Oval 37">
            <a:extLst>
              <a:ext uri="{FF2B5EF4-FFF2-40B4-BE49-F238E27FC236}">
                <a16:creationId xmlns:a16="http://schemas.microsoft.com/office/drawing/2014/main" id="{2134F66B-237E-1547-88A9-E51BA5968ACF}"/>
              </a:ext>
            </a:extLst>
          </p:cNvPr>
          <p:cNvSpPr/>
          <p:nvPr/>
        </p:nvSpPr>
        <p:spPr>
          <a:xfrm>
            <a:off x="6460289" y="2711450"/>
            <a:ext cx="402523" cy="399622"/>
          </a:xfrm>
          <a:prstGeom prst="ellipse">
            <a:avLst/>
          </a:prstGeom>
          <a:no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N"/>
          </a:p>
        </p:txBody>
      </p:sp>
      <p:cxnSp>
        <p:nvCxnSpPr>
          <p:cNvPr id="39" name="Straight Arrow Connector 38">
            <a:extLst>
              <a:ext uri="{FF2B5EF4-FFF2-40B4-BE49-F238E27FC236}">
                <a16:creationId xmlns:a16="http://schemas.microsoft.com/office/drawing/2014/main" id="{130E0E98-FE93-AC4D-91E3-05C2D32D0297}"/>
              </a:ext>
            </a:extLst>
          </p:cNvPr>
          <p:cNvCxnSpPr>
            <a:cxnSpLocks/>
            <a:stCxn id="38" idx="0"/>
          </p:cNvCxnSpPr>
          <p:nvPr/>
        </p:nvCxnSpPr>
        <p:spPr>
          <a:xfrm flipV="1">
            <a:off x="6661551" y="2473693"/>
            <a:ext cx="806048" cy="237757"/>
          </a:xfrm>
          <a:prstGeom prst="straightConnector1">
            <a:avLst/>
          </a:prstGeom>
          <a:ln w="12700">
            <a:solidFill>
              <a:schemeClr val="bg1"/>
            </a:solidFill>
            <a:tailEnd type="stealth"/>
          </a:ln>
        </p:spPr>
        <p:style>
          <a:lnRef idx="1">
            <a:schemeClr val="accent1"/>
          </a:lnRef>
          <a:fillRef idx="0">
            <a:schemeClr val="accent1"/>
          </a:fillRef>
          <a:effectRef idx="0">
            <a:schemeClr val="accent1"/>
          </a:effectRef>
          <a:fontRef idx="minor">
            <a:schemeClr val="tx1"/>
          </a:fontRef>
        </p:style>
      </p:cxnSp>
      <p:sp>
        <p:nvSpPr>
          <p:cNvPr id="42" name="TextBox 41">
            <a:extLst>
              <a:ext uri="{FF2B5EF4-FFF2-40B4-BE49-F238E27FC236}">
                <a16:creationId xmlns:a16="http://schemas.microsoft.com/office/drawing/2014/main" id="{64C41634-2D17-2746-BC7A-552166FA92AC}"/>
              </a:ext>
            </a:extLst>
          </p:cNvPr>
          <p:cNvSpPr txBox="1"/>
          <p:nvPr/>
        </p:nvSpPr>
        <p:spPr>
          <a:xfrm>
            <a:off x="6208369" y="1790031"/>
            <a:ext cx="2033873" cy="523220"/>
          </a:xfrm>
          <a:prstGeom prst="rect">
            <a:avLst/>
          </a:prstGeom>
          <a:noFill/>
        </p:spPr>
        <p:txBody>
          <a:bodyPr wrap="square" rtlCol="0">
            <a:spAutoFit/>
          </a:bodyPr>
          <a:lstStyle/>
          <a:p>
            <a:pPr algn="ctr"/>
            <a:r>
              <a:rPr lang="en-US" altLang="zh-CN" sz="1400" b="1" dirty="0">
                <a:solidFill>
                  <a:schemeClr val="bg1"/>
                </a:solidFill>
                <a:latin typeface="Times New Roman" panose="02020603050405020304" pitchFamily="18" charset="0"/>
                <a:cs typeface="Times New Roman" panose="02020603050405020304" pitchFamily="18" charset="0"/>
              </a:rPr>
              <a:t>10.22 &amp; 23</a:t>
            </a:r>
            <a:r>
              <a:rPr lang="zh-CN" altLang="en-US" sz="1400" b="1" dirty="0">
                <a:solidFill>
                  <a:schemeClr val="bg1"/>
                </a:solidFill>
                <a:latin typeface="Times New Roman" panose="02020603050405020304" pitchFamily="18" charset="0"/>
                <a:cs typeface="Times New Roman" panose="02020603050405020304" pitchFamily="18" charset="0"/>
              </a:rPr>
              <a:t> </a:t>
            </a:r>
            <a:endParaRPr lang="en-US" altLang="zh-CN" sz="1400" b="1" dirty="0">
              <a:solidFill>
                <a:schemeClr val="bg1"/>
              </a:solidFill>
              <a:latin typeface="Times New Roman" panose="02020603050405020304" pitchFamily="18" charset="0"/>
              <a:cs typeface="Times New Roman" panose="02020603050405020304" pitchFamily="18" charset="0"/>
            </a:endParaRPr>
          </a:p>
          <a:p>
            <a:pPr algn="ctr"/>
            <a:r>
              <a:rPr lang="en-US" sz="1400" b="1" dirty="0">
                <a:solidFill>
                  <a:schemeClr val="bg1"/>
                </a:solidFill>
                <a:latin typeface="Times New Roman" panose="02020603050405020304" pitchFamily="18" charset="0"/>
                <a:ea typeface="KaiTi" panose="02010609060101010101" pitchFamily="49" charset="-122"/>
              </a:rPr>
              <a:t>Fi</a:t>
            </a:r>
            <a:r>
              <a:rPr lang="en-US" sz="1400" b="1" dirty="0">
                <a:solidFill>
                  <a:schemeClr val="bg1"/>
                </a:solidFill>
                <a:effectLst/>
                <a:latin typeface="Times New Roman" panose="02020603050405020304" pitchFamily="18" charset="0"/>
                <a:ea typeface="KaiTi" panose="02010609060101010101" pitchFamily="49" charset="-122"/>
              </a:rPr>
              <a:t>rst </a:t>
            </a:r>
            <a:r>
              <a:rPr lang="en-US" sz="1400" b="1" dirty="0">
                <a:solidFill>
                  <a:schemeClr val="bg1"/>
                </a:solidFill>
                <a:latin typeface="Times New Roman" panose="02020603050405020304" pitchFamily="18" charset="0"/>
                <a:ea typeface="KaiTi" panose="02010609060101010101" pitchFamily="49" charset="-122"/>
              </a:rPr>
              <a:t>O</a:t>
            </a:r>
            <a:r>
              <a:rPr lang="en-US" sz="1400" b="1" dirty="0">
                <a:solidFill>
                  <a:schemeClr val="bg1"/>
                </a:solidFill>
                <a:effectLst/>
                <a:latin typeface="Times New Roman" panose="02020603050405020304" pitchFamily="18" charset="0"/>
                <a:ea typeface="KaiTi" panose="02010609060101010101" pitchFamily="49" charset="-122"/>
              </a:rPr>
              <a:t>peration</a:t>
            </a:r>
            <a:r>
              <a:rPr lang="zh-CN" altLang="en-US" sz="1400" b="1" dirty="0">
                <a:solidFill>
                  <a:schemeClr val="bg1"/>
                </a:solidFill>
                <a:effectLst/>
                <a:latin typeface="Times New Roman" panose="02020603050405020304" pitchFamily="18" charset="0"/>
                <a:ea typeface="KaiTi" panose="02010609060101010101" pitchFamily="49" charset="-122"/>
              </a:rPr>
              <a:t> </a:t>
            </a:r>
            <a:r>
              <a:rPr lang="en-US" altLang="zh-CN" sz="1400" b="1" dirty="0">
                <a:solidFill>
                  <a:schemeClr val="bg1"/>
                </a:solidFill>
                <a:latin typeface="Times New Roman" panose="02020603050405020304" pitchFamily="18" charset="0"/>
                <a:ea typeface="KaiTi" panose="02010609060101010101" pitchFamily="49" charset="-122"/>
              </a:rPr>
              <a:t>Works</a:t>
            </a:r>
            <a:endParaRPr lang="en-CN" sz="1400" b="1" dirty="0">
              <a:solidFill>
                <a:schemeClr val="bg1"/>
              </a:solidFill>
              <a:latin typeface="Times New Roman" panose="02020603050405020304" pitchFamily="18" charset="0"/>
              <a:cs typeface="Times New Roman" panose="02020603050405020304" pitchFamily="18" charset="0"/>
            </a:endParaRPr>
          </a:p>
        </p:txBody>
      </p:sp>
      <p:sp>
        <p:nvSpPr>
          <p:cNvPr id="46" name="TextBox 45">
            <a:extLst>
              <a:ext uri="{FF2B5EF4-FFF2-40B4-BE49-F238E27FC236}">
                <a16:creationId xmlns:a16="http://schemas.microsoft.com/office/drawing/2014/main" id="{2043E101-44DE-D84A-B8E1-2DB450F746AD}"/>
              </a:ext>
            </a:extLst>
          </p:cNvPr>
          <p:cNvSpPr txBox="1"/>
          <p:nvPr/>
        </p:nvSpPr>
        <p:spPr>
          <a:xfrm>
            <a:off x="8379146" y="5575851"/>
            <a:ext cx="3190122" cy="323165"/>
          </a:xfrm>
          <a:prstGeom prst="rect">
            <a:avLst/>
          </a:prstGeom>
          <a:noFill/>
        </p:spPr>
        <p:txBody>
          <a:bodyPr wrap="square" rtlCol="0">
            <a:spAutoFit/>
          </a:bodyPr>
          <a:lstStyle/>
          <a:p>
            <a:pPr algn="r"/>
            <a:r>
              <a:rPr lang="en-US" altLang="zh-CN" sz="1500" b="1" dirty="0">
                <a:solidFill>
                  <a:schemeClr val="accent4"/>
                </a:solidFill>
                <a:latin typeface="Times New Roman" panose="02020603050405020304" pitchFamily="18" charset="0"/>
                <a:cs typeface="Times New Roman" panose="02020603050405020304" pitchFamily="18" charset="0"/>
              </a:rPr>
              <a:t>Long-term effects remain to be seen.</a:t>
            </a:r>
            <a:endParaRPr lang="en-CN" sz="1500" b="1" dirty="0">
              <a:solidFill>
                <a:schemeClr val="accent4"/>
              </a:solidFill>
              <a:latin typeface="Times New Roman" panose="02020603050405020304" pitchFamily="18" charset="0"/>
              <a:cs typeface="Times New Roman" panose="02020603050405020304" pitchFamily="18" charset="0"/>
            </a:endParaRPr>
          </a:p>
        </p:txBody>
      </p:sp>
      <p:sp>
        <p:nvSpPr>
          <p:cNvPr id="50" name="TextBox 49">
            <a:extLst>
              <a:ext uri="{FF2B5EF4-FFF2-40B4-BE49-F238E27FC236}">
                <a16:creationId xmlns:a16="http://schemas.microsoft.com/office/drawing/2014/main" id="{79A49A91-4612-8C49-9546-81FF2EB011AD}"/>
              </a:ext>
            </a:extLst>
          </p:cNvPr>
          <p:cNvSpPr txBox="1"/>
          <p:nvPr/>
        </p:nvSpPr>
        <p:spPr>
          <a:xfrm>
            <a:off x="5037614" y="5590640"/>
            <a:ext cx="3190122" cy="323165"/>
          </a:xfrm>
          <a:prstGeom prst="rect">
            <a:avLst/>
          </a:prstGeom>
          <a:noFill/>
        </p:spPr>
        <p:txBody>
          <a:bodyPr wrap="square" rtlCol="0">
            <a:spAutoFit/>
          </a:bodyPr>
          <a:lstStyle/>
          <a:p>
            <a:pPr algn="r"/>
            <a:r>
              <a:rPr lang="en-US" altLang="zh-CN" sz="1500" b="1" dirty="0">
                <a:solidFill>
                  <a:schemeClr val="accent4"/>
                </a:solidFill>
                <a:latin typeface="Times New Roman" panose="02020603050405020304" pitchFamily="18" charset="0"/>
                <a:cs typeface="Times New Roman" panose="02020603050405020304" pitchFamily="18" charset="0"/>
              </a:rPr>
              <a:t>Short-term effects are clear.</a:t>
            </a:r>
            <a:endParaRPr lang="en-CN" sz="1500" b="1" dirty="0">
              <a:solidFill>
                <a:schemeClr val="accent4"/>
              </a:solidFill>
              <a:latin typeface="Times New Roman" panose="02020603050405020304" pitchFamily="18" charset="0"/>
              <a:cs typeface="Times New Roman" panose="02020603050405020304" pitchFamily="18" charset="0"/>
            </a:endParaRPr>
          </a:p>
        </p:txBody>
      </p:sp>
      <p:sp>
        <p:nvSpPr>
          <p:cNvPr id="51" name="TextBox 50">
            <a:extLst>
              <a:ext uri="{FF2B5EF4-FFF2-40B4-BE49-F238E27FC236}">
                <a16:creationId xmlns:a16="http://schemas.microsoft.com/office/drawing/2014/main" id="{DD4AD68D-71EF-4540-8294-7A778BFC6EE7}"/>
              </a:ext>
            </a:extLst>
          </p:cNvPr>
          <p:cNvSpPr txBox="1"/>
          <p:nvPr/>
        </p:nvSpPr>
        <p:spPr>
          <a:xfrm>
            <a:off x="443207" y="5590639"/>
            <a:ext cx="3190122" cy="323165"/>
          </a:xfrm>
          <a:prstGeom prst="rect">
            <a:avLst/>
          </a:prstGeom>
          <a:noFill/>
        </p:spPr>
        <p:txBody>
          <a:bodyPr wrap="square" rtlCol="0">
            <a:spAutoFit/>
          </a:bodyPr>
          <a:lstStyle/>
          <a:p>
            <a:pPr algn="r"/>
            <a:r>
              <a:rPr lang="en-US" altLang="zh-CN" sz="1500" b="1" dirty="0">
                <a:solidFill>
                  <a:schemeClr val="accent4"/>
                </a:solidFill>
                <a:latin typeface="Times New Roman" panose="02020603050405020304" pitchFamily="18" charset="0"/>
                <a:cs typeface="Times New Roman" panose="02020603050405020304" pitchFamily="18" charset="0"/>
              </a:rPr>
              <a:t>The market continued to be sluggish.</a:t>
            </a:r>
            <a:endParaRPr lang="en-CN" sz="1500" b="1" dirty="0">
              <a:solidFill>
                <a:schemeClr val="accent4"/>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21218861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958</TotalTime>
  <Words>417</Words>
  <Application>Microsoft Macintosh PowerPoint</Application>
  <PresentationFormat>Widescreen</PresentationFormat>
  <Paragraphs>48</Paragraphs>
  <Slides>4</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vt:i4>
      </vt:variant>
    </vt:vector>
  </HeadingPairs>
  <TitlesOfParts>
    <vt:vector size="10" baseType="lpstr">
      <vt:lpstr>Arial</vt:lpstr>
      <vt:lpstr>Calibri</vt:lpstr>
      <vt:lpstr>Calibri Light</vt:lpstr>
      <vt:lpstr>Times New Roman</vt:lpstr>
      <vt:lpstr>Wingdings</vt:lpstr>
      <vt:lpstr>Office Theme</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凯 任</dc:creator>
  <cp:lastModifiedBy>凯 任</cp:lastModifiedBy>
  <cp:revision>541</cp:revision>
  <dcterms:created xsi:type="dcterms:W3CDTF">2024-12-08T12:43:28Z</dcterms:created>
  <dcterms:modified xsi:type="dcterms:W3CDTF">2024-12-09T14:58:32Z</dcterms:modified>
</cp:coreProperties>
</file>