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35"/>
    <p:restoredTop sz="94660"/>
  </p:normalViewPr>
  <p:slideViewPr>
    <p:cSldViewPr snapToGrid="0" snapToObjects="1">
      <p:cViewPr>
        <p:scale>
          <a:sx n="112" d="100"/>
          <a:sy n="112" d="100"/>
        </p:scale>
        <p:origin x="1168"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720EB-53FB-8C45-B9F4-828B521149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71FCB80-6504-F74E-A6BD-06DDFE2FB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B7B002FF-B244-8E46-B36E-E73696B99177}"/>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5" name="Footer Placeholder 4">
            <a:extLst>
              <a:ext uri="{FF2B5EF4-FFF2-40B4-BE49-F238E27FC236}">
                <a16:creationId xmlns:a16="http://schemas.microsoft.com/office/drawing/2014/main" id="{06E7D8C1-ADB5-9741-A2B0-FABD69C9886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1B99F4B2-C118-CF42-8C70-A6313F59F931}"/>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418070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0E0C-194B-1449-B4BC-54F04D3E012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688639F-9B87-F843-8AE2-09E6FAEBF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363F63D-429D-2D44-8128-C2D60A6479B2}"/>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5" name="Footer Placeholder 4">
            <a:extLst>
              <a:ext uri="{FF2B5EF4-FFF2-40B4-BE49-F238E27FC236}">
                <a16:creationId xmlns:a16="http://schemas.microsoft.com/office/drawing/2014/main" id="{D7234A83-74C4-D646-84B9-84AF0A16B97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1B877CA-1B73-954C-A863-B9BAE4A90821}"/>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3433016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7F54-D1C5-2C46-8C17-723ABE439E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D2180A37-DFB3-C64D-881E-0B3AFA3137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5620E8-6F6C-9547-AD68-CC10666F38FC}"/>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5" name="Footer Placeholder 4">
            <a:extLst>
              <a:ext uri="{FF2B5EF4-FFF2-40B4-BE49-F238E27FC236}">
                <a16:creationId xmlns:a16="http://schemas.microsoft.com/office/drawing/2014/main" id="{7D7E96C4-C3AD-B048-AAD0-70F796D3F672}"/>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DB265C00-4A1E-A745-A0AC-44951BCACD1C}"/>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2500586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EF164-B0CF-DB4D-AA9C-F0089D5F2FB0}"/>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718210B7-72F2-F743-9E2F-84FDB9763B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B6F2B1C3-7F1F-A745-8239-D185FC85E7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D259B799-CA9F-AD45-9F1C-9D1FE0D6F85E}"/>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6" name="Footer Placeholder 5">
            <a:extLst>
              <a:ext uri="{FF2B5EF4-FFF2-40B4-BE49-F238E27FC236}">
                <a16:creationId xmlns:a16="http://schemas.microsoft.com/office/drawing/2014/main" id="{050AAB9A-8A80-1E4E-A83B-CD5F5E166FBF}"/>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30CB3930-31D2-E541-AF43-BFD8BD735AEC}"/>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400561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A2721-CB19-594F-8545-29BA0A01D921}"/>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6766E377-DF7A-AA4D-AE1C-3084974ACE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9A6C03-0057-2741-8F19-B00AD48319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081DFFCB-7E58-F547-B57C-59517F7442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CCD656-CFC7-A748-8DF0-ECE43E4A02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B61CB36E-30B4-5044-8CC4-873BBC7F4A7C}"/>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8" name="Footer Placeholder 7">
            <a:extLst>
              <a:ext uri="{FF2B5EF4-FFF2-40B4-BE49-F238E27FC236}">
                <a16:creationId xmlns:a16="http://schemas.microsoft.com/office/drawing/2014/main" id="{1F7FF9F9-1A6C-1A4C-AB11-E9221D3955F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A12B7A7-CF18-644A-8857-6BEA6CBF239B}"/>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926979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90A7-D087-F042-97CF-0710D4AB2A57}"/>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AD13E029-E00F-A445-A322-3525FB707282}"/>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4" name="Footer Placeholder 3">
            <a:extLst>
              <a:ext uri="{FF2B5EF4-FFF2-40B4-BE49-F238E27FC236}">
                <a16:creationId xmlns:a16="http://schemas.microsoft.com/office/drawing/2014/main" id="{B8A503FE-3146-A642-8906-BC78B20855F6}"/>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4FB3951B-7A28-024D-84C1-6B6892B2620B}"/>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1633586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E66911-AB38-C646-8412-12B044B8D5E3}"/>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3" name="Footer Placeholder 2">
            <a:extLst>
              <a:ext uri="{FF2B5EF4-FFF2-40B4-BE49-F238E27FC236}">
                <a16:creationId xmlns:a16="http://schemas.microsoft.com/office/drawing/2014/main" id="{7B70C705-8C64-E645-8AEE-8FBFB8E830FE}"/>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18E3C0E9-B6B8-4E4C-8799-1B63647E6ABD}"/>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1771741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677E4-0B78-9942-AAE2-759BD6F79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E530B42D-F9EF-D647-B399-CD177D3F3C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1CC88570-EF94-554D-9F61-0A6586B194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0A9EB-B5B1-C84E-B444-1669C20BAAB1}"/>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6" name="Footer Placeholder 5">
            <a:extLst>
              <a:ext uri="{FF2B5EF4-FFF2-40B4-BE49-F238E27FC236}">
                <a16:creationId xmlns:a16="http://schemas.microsoft.com/office/drawing/2014/main" id="{683265E0-3984-1144-8FAB-0EB963E2A8B9}"/>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145ED609-D209-5E40-B2EB-992AE8C9DEEC}"/>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2426849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B8C43-E09D-DB40-A870-49C81DFCE5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74ACA9BD-E3FC-6A44-B977-E87B457FFF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81B067FF-4CFA-714F-AD91-6BF145F2C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0B5BB-49F7-7E4C-9569-5C10874E816F}"/>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6" name="Footer Placeholder 5">
            <a:extLst>
              <a:ext uri="{FF2B5EF4-FFF2-40B4-BE49-F238E27FC236}">
                <a16:creationId xmlns:a16="http://schemas.microsoft.com/office/drawing/2014/main" id="{FA08165A-EB64-F147-B7E8-1F7E88182CBD}"/>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C4256665-B1D0-7447-8392-EC9FDC67EC44}"/>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349926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CED74-159B-CA46-AF54-4B56C89FA6E3}"/>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8D4D69A4-2E32-BC4C-8B9B-474805F310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9CEEF034-161E-ED4C-9362-B4EFB3021442}"/>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5" name="Footer Placeholder 4">
            <a:extLst>
              <a:ext uri="{FF2B5EF4-FFF2-40B4-BE49-F238E27FC236}">
                <a16:creationId xmlns:a16="http://schemas.microsoft.com/office/drawing/2014/main" id="{995E2FFC-61D1-AD47-88E6-BE33A50C2614}"/>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960434D-72E7-A447-BF3A-B3400D3E486C}"/>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99506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AB0986-56FD-9A46-86D9-263058D303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D053A881-28AF-EC42-A693-C39F58F4E9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C2948647-8D82-C047-994B-93D826A9243D}"/>
              </a:ext>
            </a:extLst>
          </p:cNvPr>
          <p:cNvSpPr>
            <a:spLocks noGrp="1"/>
          </p:cNvSpPr>
          <p:nvPr>
            <p:ph type="dt" sz="half" idx="10"/>
          </p:nvPr>
        </p:nvSpPr>
        <p:spPr/>
        <p:txBody>
          <a:bodyPr/>
          <a:lstStyle/>
          <a:p>
            <a:fld id="{322E4AA4-BEDE-CB44-B2CC-66E1D385BA6A}" type="datetimeFigureOut">
              <a:rPr lang="en-CN" smtClean="0"/>
              <a:t>2024/12/8</a:t>
            </a:fld>
            <a:endParaRPr lang="en-CN"/>
          </a:p>
        </p:txBody>
      </p:sp>
      <p:sp>
        <p:nvSpPr>
          <p:cNvPr id="5" name="Footer Placeholder 4">
            <a:extLst>
              <a:ext uri="{FF2B5EF4-FFF2-40B4-BE49-F238E27FC236}">
                <a16:creationId xmlns:a16="http://schemas.microsoft.com/office/drawing/2014/main" id="{40CEAF93-4EB6-A34C-876A-F8FB11838C04}"/>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0021FF5A-6B7C-DD49-95E2-31113AF70068}"/>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2597130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0124B-EC56-C244-961E-84B7B9665C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673C7A82-827E-C241-8D5C-3DCF664866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3321F4DE-C346-0241-BAF0-47749526F3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2E4AA4-BEDE-CB44-B2CC-66E1D385BA6A}" type="datetimeFigureOut">
              <a:rPr lang="en-CN" smtClean="0"/>
              <a:t>2024/12/8</a:t>
            </a:fld>
            <a:endParaRPr lang="en-CN"/>
          </a:p>
        </p:txBody>
      </p:sp>
      <p:sp>
        <p:nvSpPr>
          <p:cNvPr id="5" name="Footer Placeholder 4">
            <a:extLst>
              <a:ext uri="{FF2B5EF4-FFF2-40B4-BE49-F238E27FC236}">
                <a16:creationId xmlns:a16="http://schemas.microsoft.com/office/drawing/2014/main" id="{73140BB8-F699-B74E-BDBD-9031752F63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3029C3FE-78DE-DF42-B327-DA3E0554DE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795B09-EF84-4B40-ABD6-33507B264A7C}" type="slidenum">
              <a:rPr lang="en-CN" smtClean="0"/>
              <a:t>‹#›</a:t>
            </a:fld>
            <a:endParaRPr lang="en-CN"/>
          </a:p>
        </p:txBody>
      </p:sp>
    </p:spTree>
    <p:extLst>
      <p:ext uri="{BB962C8B-B14F-4D97-AF65-F5344CB8AC3E}">
        <p14:creationId xmlns:p14="http://schemas.microsoft.com/office/powerpoint/2010/main" val="197341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C408DF36-512A-C146-9936-E78549573286}"/>
              </a:ext>
            </a:extLst>
          </p:cNvPr>
          <p:cNvSpPr/>
          <p:nvPr/>
        </p:nvSpPr>
        <p:spPr>
          <a:xfrm>
            <a:off x="829520" y="5329310"/>
            <a:ext cx="4436006" cy="854320"/>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PBOC</a:t>
            </a:r>
            <a:r>
              <a:rPr lang="zh-CN" altLang="en-US"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Sept. 24th </a:t>
            </a:r>
          </a:p>
          <a:p>
            <a:pPr algn="ctr"/>
            <a:r>
              <a:rPr lang="en-US" altLang="zh-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Monetary Easing Package </a:t>
            </a:r>
            <a:endParaRPr lang="en-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5" name="Rounded Rectangle 4">
            <a:extLst>
              <a:ext uri="{FF2B5EF4-FFF2-40B4-BE49-F238E27FC236}">
                <a16:creationId xmlns:a16="http://schemas.microsoft.com/office/drawing/2014/main" id="{A0F7C48F-7391-7C42-A19E-5F73406D9F83}"/>
              </a:ext>
            </a:extLst>
          </p:cNvPr>
          <p:cNvSpPr/>
          <p:nvPr/>
        </p:nvSpPr>
        <p:spPr>
          <a:xfrm>
            <a:off x="829519" y="776253"/>
            <a:ext cx="10532962" cy="1738347"/>
          </a:xfrm>
          <a:prstGeom prst="roundRect">
            <a:avLst>
              <a:gd name="adj" fmla="val 6972"/>
            </a:avLst>
          </a:prstGeom>
          <a:solidFill>
            <a:schemeClr val="accent6">
              <a:lumMod val="20000"/>
              <a:lumOff val="8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Stock Market: Two Innovative Monetary Policy Tools 💵</a:t>
            </a:r>
            <a:endParaRPr lang="en-CN"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Rounded Rectangle 5">
            <a:extLst>
              <a:ext uri="{FF2B5EF4-FFF2-40B4-BE49-F238E27FC236}">
                <a16:creationId xmlns:a16="http://schemas.microsoft.com/office/drawing/2014/main" id="{C748A44E-4035-8C4C-928E-1038CF78B79B}"/>
              </a:ext>
            </a:extLst>
          </p:cNvPr>
          <p:cNvSpPr/>
          <p:nvPr/>
        </p:nvSpPr>
        <p:spPr>
          <a:xfrm>
            <a:off x="829520" y="2674620"/>
            <a:ext cx="4436006" cy="2494670"/>
          </a:xfrm>
          <a:prstGeom prst="roundRect">
            <a:avLst>
              <a:gd name="adj" fmla="val 5574"/>
            </a:avLst>
          </a:prstGeom>
          <a:solidFill>
            <a:schemeClr val="accent5">
              <a:lumMod val="20000"/>
              <a:lumOff val="8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Money Market</a:t>
            </a:r>
            <a:r>
              <a:rPr lang="zh-CN" alt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CN"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Rounded Rectangle 8">
            <a:extLst>
              <a:ext uri="{FF2B5EF4-FFF2-40B4-BE49-F238E27FC236}">
                <a16:creationId xmlns:a16="http://schemas.microsoft.com/office/drawing/2014/main" id="{F1A0D57E-F596-244B-A106-8AE1CD07F25D}"/>
              </a:ext>
            </a:extLst>
          </p:cNvPr>
          <p:cNvSpPr/>
          <p:nvPr/>
        </p:nvSpPr>
        <p:spPr>
          <a:xfrm>
            <a:off x="951865" y="1284978"/>
            <a:ext cx="5079131" cy="1145841"/>
          </a:xfrm>
          <a:prstGeom prst="roundRect">
            <a:avLst>
              <a:gd name="adj" fmla="val 5837"/>
            </a:avLst>
          </a:prstGeom>
          <a:solidFill>
            <a:schemeClr val="accent6">
              <a:lumMod val="40000"/>
              <a:lumOff val="60000"/>
            </a:schemeClr>
          </a:solidFill>
          <a:ln w="19050">
            <a:solidFill>
              <a:schemeClr val="accent6">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b="1" i="1" u="sng"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SFISF:</a:t>
            </a:r>
            <a:r>
              <a:rPr lang="en-US" sz="1600" b="1"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 </a:t>
            </a:r>
            <a:r>
              <a:rPr lang="en-US" sz="1600"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Supporting eligible institutions to obtain liquidity from the central bank through asset pledges, with an initial swap facility operation of 500 billion yuan.</a:t>
            </a:r>
          </a:p>
          <a:p>
            <a:pPr algn="just"/>
            <a:r>
              <a:rPr lang="en-US" altLang="zh-CN" sz="16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(I will focus on analyzing this policy)</a:t>
            </a:r>
            <a:endParaRPr lang="en-CN" sz="16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Rounded Rectangle 10">
            <a:extLst>
              <a:ext uri="{FF2B5EF4-FFF2-40B4-BE49-F238E27FC236}">
                <a16:creationId xmlns:a16="http://schemas.microsoft.com/office/drawing/2014/main" id="{377FE554-D6E5-724E-924C-4449E20DBE26}"/>
              </a:ext>
            </a:extLst>
          </p:cNvPr>
          <p:cNvSpPr/>
          <p:nvPr/>
        </p:nvSpPr>
        <p:spPr>
          <a:xfrm>
            <a:off x="6161006" y="1284977"/>
            <a:ext cx="5079133" cy="1145841"/>
          </a:xfrm>
          <a:prstGeom prst="roundRect">
            <a:avLst>
              <a:gd name="adj" fmla="val 5837"/>
            </a:avLst>
          </a:prstGeom>
          <a:solidFill>
            <a:schemeClr val="accent6">
              <a:lumMod val="40000"/>
              <a:lumOff val="60000"/>
            </a:schemeClr>
          </a:solidFill>
          <a:ln w="19050">
            <a:solidFill>
              <a:schemeClr val="accent6">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b="1" i="1" u="sng"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LFSBIS:</a:t>
            </a:r>
            <a:r>
              <a:rPr lang="en-US" sz="1600" b="1" i="1"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 </a:t>
            </a:r>
            <a:r>
              <a:rPr lang="en-US" sz="1600"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Guiding commercial banks to provide loans to listed companies and major shareholders to support the repurchase and increase the shareholding of listed companies, with an initial amount of 300 billion yuan. </a:t>
            </a:r>
            <a:endParaRPr lang="en-CN" sz="16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14" name="Rounded Rectangle 13">
            <a:extLst>
              <a:ext uri="{FF2B5EF4-FFF2-40B4-BE49-F238E27FC236}">
                <a16:creationId xmlns:a16="http://schemas.microsoft.com/office/drawing/2014/main" id="{61F2628D-B9FF-BE4C-B1B4-93CD8C682BB4}"/>
              </a:ext>
            </a:extLst>
          </p:cNvPr>
          <p:cNvSpPr/>
          <p:nvPr/>
        </p:nvSpPr>
        <p:spPr>
          <a:xfrm>
            <a:off x="951865" y="3162219"/>
            <a:ext cx="4180205" cy="1847053"/>
          </a:xfrm>
          <a:prstGeom prst="roundRect">
            <a:avLst>
              <a:gd name="adj" fmla="val 5837"/>
            </a:avLst>
          </a:prstGeom>
          <a:solidFill>
            <a:schemeClr val="accent5">
              <a:lumMod val="40000"/>
              <a:lumOff val="60000"/>
            </a:schemeClr>
          </a:solidFill>
          <a:ln w="19050">
            <a:solidFill>
              <a:schemeClr val="accent5">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spcAft>
                <a:spcPts val="300"/>
              </a:spcAft>
              <a:buFont typeface="Wingdings" pitchFamily="2" charset="2"/>
              <a:buChar char="v"/>
            </a:pP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Volume Increase:</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RRR</a:t>
            </a:r>
            <a:r>
              <a:rPr lang="zh-CN" alt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cut by 50 bp, releasing liquidity of around 1 trillion, with a possible second cut of 25-50 bp in </a:t>
            </a:r>
            <a:r>
              <a:rPr lang="en-US" altLang="zh-CN"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2024</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p>
          <a:p>
            <a:pPr marL="285750" indent="-285750" algn="just">
              <a:spcAft>
                <a:spcPts val="300"/>
              </a:spcAft>
              <a:buFont typeface="Wingdings" pitchFamily="2" charset="2"/>
              <a:buChar char="v"/>
            </a:pPr>
            <a:r>
              <a:rPr lang="en-US" altLang="zh-CN"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Price</a:t>
            </a:r>
            <a:r>
              <a:rPr lang="zh-CN" alt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CN"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Decrease:</a:t>
            </a:r>
            <a:r>
              <a:rPr lang="en-US" altLang="zh-CN"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7-day reverse repo rate cut by 20bp to 1.5%, MLF rate cut by 30bp to 2.0%, LPR and deposit rate cut by 20~25bp.</a:t>
            </a:r>
          </a:p>
        </p:txBody>
      </p:sp>
      <p:sp>
        <p:nvSpPr>
          <p:cNvPr id="15" name="Rounded Rectangle 14">
            <a:extLst>
              <a:ext uri="{FF2B5EF4-FFF2-40B4-BE49-F238E27FC236}">
                <a16:creationId xmlns:a16="http://schemas.microsoft.com/office/drawing/2014/main" id="{ACF74B08-0AC4-034B-A9E6-3C9660530D20}"/>
              </a:ext>
            </a:extLst>
          </p:cNvPr>
          <p:cNvSpPr/>
          <p:nvPr/>
        </p:nvSpPr>
        <p:spPr>
          <a:xfrm>
            <a:off x="5381837" y="2674619"/>
            <a:ext cx="5980643" cy="3509011"/>
          </a:xfrm>
          <a:prstGeom prst="roundRect">
            <a:avLst>
              <a:gd name="adj" fmla="val 5574"/>
            </a:avLst>
          </a:prstGeom>
          <a:solidFill>
            <a:schemeClr val="accent2">
              <a:lumMod val="20000"/>
              <a:lumOff val="8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Real Estate Market</a:t>
            </a:r>
            <a:r>
              <a:rPr lang="zh-CN" alt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CN"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6" name="Rounded Rectangle 15">
            <a:extLst>
              <a:ext uri="{FF2B5EF4-FFF2-40B4-BE49-F238E27FC236}">
                <a16:creationId xmlns:a16="http://schemas.microsoft.com/office/drawing/2014/main" id="{2527A65A-DCE5-574D-B286-58A445C7D0BA}"/>
              </a:ext>
            </a:extLst>
          </p:cNvPr>
          <p:cNvSpPr/>
          <p:nvPr/>
        </p:nvSpPr>
        <p:spPr>
          <a:xfrm>
            <a:off x="5474812" y="3162219"/>
            <a:ext cx="5759768" cy="2877700"/>
          </a:xfrm>
          <a:prstGeom prst="roundRect">
            <a:avLst>
              <a:gd name="adj" fmla="val 5837"/>
            </a:avLst>
          </a:prstGeom>
          <a:solidFill>
            <a:schemeClr val="accent2">
              <a:lumMod val="40000"/>
              <a:lumOff val="60000"/>
            </a:schemeClr>
          </a:solidFill>
          <a:ln w="1905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spcAft>
                <a:spcPts val="300"/>
              </a:spcAft>
              <a:buFont typeface="Wingdings" pitchFamily="2" charset="2"/>
              <a:buChar char="v"/>
            </a:pP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Reducing interest rates </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on stock mortgages to near the rate for new originations, expected to average about 0.5%. </a:t>
            </a:r>
          </a:p>
          <a:p>
            <a:pPr marL="285750" indent="-285750" algn="just">
              <a:spcAft>
                <a:spcPts val="300"/>
              </a:spcAft>
              <a:buFont typeface="Wingdings" pitchFamily="2" charset="2"/>
              <a:buChar char="v"/>
            </a:pP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Lowering</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the minimum down payment ratio for second-suite loans from 25% to 15%.</a:t>
            </a:r>
          </a:p>
          <a:p>
            <a:pPr marL="285750" indent="-285750" algn="just">
              <a:spcAft>
                <a:spcPts val="300"/>
              </a:spcAft>
              <a:buFont typeface="Wingdings" pitchFamily="2" charset="2"/>
              <a:buChar char="v"/>
            </a:pP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The proportion of central bank funding support in the previously created 300 billion yuan guaranteed housing refinancing will be </a:t>
            </a: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increased from 60% to 100%</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p>
          <a:p>
            <a:pPr marL="285750" indent="-285750" algn="just">
              <a:spcAft>
                <a:spcPts val="300"/>
              </a:spcAft>
              <a:buFont typeface="Wingdings" pitchFamily="2" charset="2"/>
              <a:buChar char="v"/>
            </a:pP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Extension</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of phased policies on the roll-over of inventory financing for real estate enterprises and loans for operating properties until the end of 2026</a:t>
            </a:r>
            <a:r>
              <a:rPr lang="en-US" altLang="zh-CN"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7" name="Sun 16">
            <a:extLst>
              <a:ext uri="{FF2B5EF4-FFF2-40B4-BE49-F238E27FC236}">
                <a16:creationId xmlns:a16="http://schemas.microsoft.com/office/drawing/2014/main" id="{2C01EC1C-B5DD-8C48-82BE-DAAD5CD1111F}"/>
              </a:ext>
            </a:extLst>
          </p:cNvPr>
          <p:cNvSpPr/>
          <p:nvPr/>
        </p:nvSpPr>
        <p:spPr>
          <a:xfrm>
            <a:off x="5580482" y="1980305"/>
            <a:ext cx="450514" cy="450514"/>
          </a:xfrm>
          <a:prstGeom prst="sun">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465192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7E4DD0-22B7-D945-8AEE-338425A1C98F}"/>
              </a:ext>
            </a:extLst>
          </p:cNvPr>
          <p:cNvPicPr>
            <a:picLocks noChangeAspect="1"/>
          </p:cNvPicPr>
          <p:nvPr/>
        </p:nvPicPr>
        <p:blipFill>
          <a:blip r:embed="rId2"/>
          <a:stretch>
            <a:fillRect/>
          </a:stretch>
        </p:blipFill>
        <p:spPr>
          <a:xfrm>
            <a:off x="1187450" y="326390"/>
            <a:ext cx="9817100" cy="2959100"/>
          </a:xfrm>
          <a:prstGeom prst="rect">
            <a:avLst/>
          </a:prstGeom>
        </p:spPr>
      </p:pic>
      <p:pic>
        <p:nvPicPr>
          <p:cNvPr id="3" name="Picture 2">
            <a:extLst>
              <a:ext uri="{FF2B5EF4-FFF2-40B4-BE49-F238E27FC236}">
                <a16:creationId xmlns:a16="http://schemas.microsoft.com/office/drawing/2014/main" id="{43A73E7F-DA8D-774C-850D-67872A0A95CF}"/>
              </a:ext>
            </a:extLst>
          </p:cNvPr>
          <p:cNvPicPr>
            <a:picLocks noChangeAspect="1"/>
          </p:cNvPicPr>
          <p:nvPr/>
        </p:nvPicPr>
        <p:blipFill>
          <a:blip r:embed="rId3"/>
          <a:stretch>
            <a:fillRect/>
          </a:stretch>
        </p:blipFill>
        <p:spPr>
          <a:xfrm>
            <a:off x="2181225" y="2230033"/>
            <a:ext cx="7829550" cy="4301577"/>
          </a:xfrm>
          <a:prstGeom prst="rect">
            <a:avLst/>
          </a:prstGeom>
        </p:spPr>
      </p:pic>
    </p:spTree>
    <p:extLst>
      <p:ext uri="{BB962C8B-B14F-4D97-AF65-F5344CB8AC3E}">
        <p14:creationId xmlns:p14="http://schemas.microsoft.com/office/powerpoint/2010/main" val="2896180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TotalTime>
  <Words>236</Words>
  <Application>Microsoft Macintosh PowerPoint</Application>
  <PresentationFormat>Widescreen</PresentationFormat>
  <Paragraphs>14</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Times New Roman</vt:lpstr>
      <vt:lpstr>Wingdings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凯 任</dc:creator>
  <cp:lastModifiedBy>凯 任</cp:lastModifiedBy>
  <cp:revision>189</cp:revision>
  <dcterms:created xsi:type="dcterms:W3CDTF">2024-12-08T12:43:28Z</dcterms:created>
  <dcterms:modified xsi:type="dcterms:W3CDTF">2024-12-08T15:50:07Z</dcterms:modified>
</cp:coreProperties>
</file>