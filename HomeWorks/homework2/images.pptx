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35"/>
    <p:restoredTop sz="94660"/>
  </p:normalViewPr>
  <p:slideViewPr>
    <p:cSldViewPr snapToGrid="0" snapToObjects="1">
      <p:cViewPr>
        <p:scale>
          <a:sx n="119" d="100"/>
          <a:sy n="119" d="100"/>
        </p:scale>
        <p:origin x="90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720EB-53FB-8C45-B9F4-828B521149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1FCB80-6504-F74E-A6BD-06DDFE2FBB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002FF-B244-8E46-B36E-E73696B99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7D8C1-ADB5-9741-A2B0-FABD69C98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9F4B2-C118-CF42-8C70-A6313F59F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80709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00E0C-194B-1449-B4BC-54F04D3E0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639F-9B87-F843-8AE2-09E6FAEBF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3F63D-429D-2D44-8128-C2D60A647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34A83-74C4-D646-84B9-84AF0A16B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877CA-1B73-954C-A863-B9BAE4A90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33016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37F54-D1C5-2C46-8C17-723ABE439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180A37-DFB3-C64D-881E-0B3AFA313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5620E8-6F6C-9547-AD68-CC10666F3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96C4-C3AD-B048-AAD0-70F796D3F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65C00-4A1E-A745-A0AC-44951BCAC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00586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EF164-B0CF-DB4D-AA9C-F0089D5F2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0B7-72F2-F743-9E2F-84FDB9763B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F2B1C3-7F1F-A745-8239-D185FC85E7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59B799-CA9F-AD45-9F1C-9D1FE0D6F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0AAB9A-8A80-1E4E-A83B-CD5F5E166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CB3930-31D2-E541-AF43-BFD8BD735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05617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A2721-CB19-594F-8545-29BA0A01D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66E377-DF7A-AA4D-AE1C-3084974AC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9A6C03-0057-2741-8F19-B00AD48319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1DFFCB-7E58-F547-B57C-59517F7442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CCD656-CFC7-A748-8DF0-ECE43E4A02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1CB36E-30B4-5044-8CC4-873BBC7F4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7FF9F9-1A6C-1A4C-AB11-E9221D395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12B7A7-CF18-644A-8857-6BEA6CBF2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26979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990A7-D087-F042-97CF-0710D4AB2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13E029-E00F-A445-A322-3525FB707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A503FE-3146-A642-8906-BC78B2085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B3951B-7A28-024D-84C1-6B6892B2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33586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E66911-AB38-C646-8412-12B044B8D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70C705-8C64-E645-8AEE-8FBFB8E83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3C0E9-B6B8-4E4C-8799-1B63647E6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717418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77E4-0B78-9942-AAE2-759BD6F79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0B42D-F9EF-D647-B399-CD177D3F3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88570-EF94-554D-9F61-0A6586B194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A0A9EB-B5B1-C84E-B444-1669C20BA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5E0-3984-1144-8FAB-0EB963E2A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5ED609-D209-5E40-B2EB-992AE8C9D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26849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B8C43-E09D-DB40-A870-49C81DFCE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ACA9BD-E3FC-6A44-B977-E87B457FFF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067FF-4CFA-714F-AD91-6BF145F2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F0B5BB-49F7-7E4C-9569-5C10874E8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08165A-EB64-F147-B7E8-1F7E88182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256665-B1D0-7447-8392-EC9FDC67E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9926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CED74-159B-CA46-AF54-4B56C89FA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4D69A4-2E32-BC4C-8B9B-474805F310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EF034-161E-ED4C-9362-B4EFB302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5E2FFC-61D1-AD47-88E6-BE33A50C2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0434D-72E7-A447-BF3A-B3400D3E4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95066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AB0986-56FD-9A46-86D9-263058D303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53A881-28AF-EC42-A693-C39F58F4E9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48647-8D82-C047-994B-93D826A92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EAF93-4EB6-A34C-876A-F8FB11838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1FF5A-6B7C-DD49-95E2-31113AF70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97130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0124B-EC56-C244-961E-84B7B9665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C7A82-827E-C241-8D5C-3DCF664866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1F4DE-C346-0241-BAF0-47749526F3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2E4AA4-BEDE-CB44-B2CC-66E1D385BA6A}" type="datetimeFigureOut">
              <a:rPr lang="en-CN" smtClean="0"/>
              <a:t>2025/1/2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40BB8-F699-B74E-BDBD-9031752F63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9C3FE-78DE-DF42-B327-DA3E0554DE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795B09-EF84-4B40-ABD6-33507B264A7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7341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191F585-71DA-8343-A556-EB7194E7B766}"/>
              </a:ext>
            </a:extLst>
          </p:cNvPr>
          <p:cNvSpPr/>
          <p:nvPr/>
        </p:nvSpPr>
        <p:spPr>
          <a:xfrm>
            <a:off x="338559" y="478503"/>
            <a:ext cx="11514882" cy="5900994"/>
          </a:xfrm>
          <a:prstGeom prst="roundRect">
            <a:avLst>
              <a:gd name="adj" fmla="val 2828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CN" b="1" i="1" dirty="0">
              <a:solidFill>
                <a:srgbClr val="C00000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A1FA62-82F1-8047-B886-30F408AC79B6}"/>
              </a:ext>
            </a:extLst>
          </p:cNvPr>
          <p:cNvSpPr txBox="1"/>
          <p:nvPr/>
        </p:nvSpPr>
        <p:spPr>
          <a:xfrm>
            <a:off x="338560" y="544494"/>
            <a:ext cx="11514881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800" b="1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Guiding Opinions on Regulating the Asset Management Business of Financial Institutions</a:t>
            </a:r>
            <a:r>
              <a:rPr lang="en-CN" b="1" dirty="0">
                <a:effectLst/>
              </a:rPr>
              <a:t> </a:t>
            </a:r>
            <a:endParaRPr lang="en-CN" b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688A72D-5345-0248-BF3F-2A015F9595EE}"/>
              </a:ext>
            </a:extLst>
          </p:cNvPr>
          <p:cNvGrpSpPr/>
          <p:nvPr/>
        </p:nvGrpSpPr>
        <p:grpSpPr>
          <a:xfrm>
            <a:off x="472439" y="990600"/>
            <a:ext cx="11247120" cy="1943946"/>
            <a:chOff x="338558" y="1036320"/>
            <a:chExt cx="11247120" cy="1943946"/>
          </a:xfrm>
        </p:grpSpPr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3AFEA1C6-FEFD-BE4F-9C59-513262665A62}"/>
                </a:ext>
              </a:extLst>
            </p:cNvPr>
            <p:cNvSpPr/>
            <p:nvPr/>
          </p:nvSpPr>
          <p:spPr>
            <a:xfrm>
              <a:off x="338558" y="1036320"/>
              <a:ext cx="3290361" cy="1943946"/>
            </a:xfrm>
            <a:prstGeom prst="roundRect">
              <a:avLst>
                <a:gd name="adj" fmla="val 462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R</a:t>
              </a:r>
              <a:r>
                <a:rPr lang="en-US" sz="1600" b="1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egulatory </a:t>
              </a:r>
              <a:r>
                <a:rPr lang="en-US" sz="16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lang="en-US" sz="1600" b="1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rinciples</a:t>
              </a:r>
            </a:p>
            <a:p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endParaRP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</a:t>
              </a:r>
              <a:r>
                <a:rPr 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nified standard</a:t>
              </a: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ehavioral regulation</a:t>
              </a: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sz="1600" b="0" i="0" u="none" strike="noStrike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look-through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regulation</a:t>
              </a: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ntegrated statistics</a:t>
              </a: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sz="1600" b="0" i="0" u="none" strike="noStrike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non-retroactive </a:t>
              </a:r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89282767-0478-B843-BA8B-331F792EE24F}"/>
                </a:ext>
              </a:extLst>
            </p:cNvPr>
            <p:cNvSpPr/>
            <p:nvPr/>
          </p:nvSpPr>
          <p:spPr>
            <a:xfrm>
              <a:off x="3744280" y="1036320"/>
              <a:ext cx="7841398" cy="1943946"/>
            </a:xfrm>
            <a:prstGeom prst="roundRect">
              <a:avLst>
                <a:gd name="adj" fmla="val 2268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b="1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Regulatory Objects</a:t>
              </a:r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0ABFFDC3-CC91-7745-A14C-803F972A081F}"/>
                </a:ext>
              </a:extLst>
            </p:cNvPr>
            <p:cNvSpPr/>
            <p:nvPr/>
          </p:nvSpPr>
          <p:spPr>
            <a:xfrm>
              <a:off x="3864024" y="1627021"/>
              <a:ext cx="2616254" cy="1143001"/>
            </a:xfrm>
            <a:prstGeom prst="roundRect">
              <a:avLst>
                <a:gd name="adj" fmla="val 6972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i="1" u="sng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Asset Management</a:t>
              </a:r>
              <a:r>
                <a:rPr lang="zh-CN" altLang="en-US" sz="1600" i="1" u="sng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600" i="1" u="sng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Business</a:t>
              </a:r>
              <a:endParaRPr lang="en-US" sz="1600" i="1" u="sng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sz="1600" b="1" i="1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off-balance sheet operations of financial institutions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070C6017-3C4A-9549-847D-E0036243355B}"/>
                </a:ext>
              </a:extLst>
            </p:cNvPr>
            <p:cNvSpPr/>
            <p:nvPr/>
          </p:nvSpPr>
          <p:spPr>
            <a:xfrm>
              <a:off x="6641764" y="1627021"/>
              <a:ext cx="4821994" cy="1143001"/>
            </a:xfrm>
            <a:prstGeom prst="roundRect">
              <a:avLst>
                <a:gd name="adj" fmla="val 6972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i="1" u="sng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A</a:t>
              </a:r>
              <a:r>
                <a:rPr lang="en-US" sz="1600" i="1" u="sng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sset </a:t>
              </a:r>
              <a:r>
                <a:rPr lang="en-US" sz="1600" i="1" u="sng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M</a:t>
              </a:r>
              <a:r>
                <a:rPr lang="en-US" sz="1600" i="1" u="sng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anagement </a:t>
              </a:r>
              <a:r>
                <a:rPr lang="en-US" sz="1600" i="1" u="sng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lang="en-US" sz="1600" i="1" u="sng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roduct</a:t>
              </a: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f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unding method: public and private</a:t>
              </a: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investment nature: fixed income, equity, hybrid, etc.</a:t>
              </a: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mode of operation: open, closed</a:t>
              </a:r>
            </a:p>
            <a:p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407FA478-AB0D-1548-9076-11192A27416B}"/>
              </a:ext>
            </a:extLst>
          </p:cNvPr>
          <p:cNvSpPr/>
          <p:nvPr/>
        </p:nvSpPr>
        <p:spPr>
          <a:xfrm>
            <a:off x="472439" y="3077311"/>
            <a:ext cx="11247120" cy="3155849"/>
          </a:xfrm>
          <a:prstGeom prst="roundRect">
            <a:avLst>
              <a:gd name="adj" fmla="val 267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i="1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Regulatory Requirement</a:t>
            </a:r>
          </a:p>
          <a:p>
            <a:endParaRPr lang="en-US" sz="1600" b="1" i="1" dirty="0">
              <a:solidFill>
                <a:schemeClr val="tx1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  <a:p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  <a:p>
            <a:endParaRPr lang="en-US" sz="1600" b="1" dirty="0">
              <a:solidFill>
                <a:schemeClr val="tx1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B1B6027C-3D87-4448-BE37-58C33700ED62}"/>
              </a:ext>
            </a:extLst>
          </p:cNvPr>
          <p:cNvSpPr/>
          <p:nvPr/>
        </p:nvSpPr>
        <p:spPr>
          <a:xfrm>
            <a:off x="631600" y="3512235"/>
            <a:ext cx="4042000" cy="2540694"/>
          </a:xfrm>
          <a:prstGeom prst="roundRect">
            <a:avLst>
              <a:gd name="adj" fmla="val 3165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i="1" u="sng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R</a:t>
            </a:r>
            <a:r>
              <a:rPr lang="en-US" altLang="zh-CN" sz="1600" i="1" u="sng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emove </a:t>
            </a:r>
            <a:r>
              <a:rPr lang="en-US" altLang="zh-CN" sz="1600" i="1" u="sng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R</a:t>
            </a:r>
            <a:r>
              <a:rPr lang="en-US" altLang="zh-CN" sz="1600" i="1" u="sng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igidity in Cash</a:t>
            </a:r>
            <a:endParaRPr lang="en-US" sz="1600" i="1" u="sng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  <a:p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broadly defined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ban on in-balance sheet asset management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investor suitability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net asset management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categorized penalties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complaints and reports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884C4262-D21B-3048-94A1-ABD92A231703}"/>
              </a:ext>
            </a:extLst>
          </p:cNvPr>
          <p:cNvSpPr/>
          <p:nvPr/>
        </p:nvSpPr>
        <p:spPr>
          <a:xfrm>
            <a:off x="4754645" y="3512235"/>
            <a:ext cx="3847488" cy="1025897"/>
          </a:xfrm>
          <a:prstGeom prst="roundRect">
            <a:avLst>
              <a:gd name="adj" fmla="val 3165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i="1" u="sng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R</a:t>
            </a:r>
            <a:r>
              <a:rPr lang="en-US" altLang="zh-CN" sz="1600" i="1" u="sng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emove N</a:t>
            </a:r>
            <a:r>
              <a:rPr lang="en-US" altLang="zh-CN" sz="1600" i="1" u="sng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esting</a:t>
            </a:r>
            <a:endParaRPr lang="en-US" sz="200" u="sng" dirty="0">
              <a:solidFill>
                <a:schemeClr val="tx1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  <a:p>
            <a:endParaRPr lang="en-US" altLang="zh-CN" sz="1000" dirty="0">
              <a:solidFill>
                <a:schemeClr val="tx1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ack to the essence of asset management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p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rohibition of multi-layer nesting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20146E4A-CDF5-9B40-BAE4-B2F0CC439967}"/>
              </a:ext>
            </a:extLst>
          </p:cNvPr>
          <p:cNvSpPr/>
          <p:nvPr/>
        </p:nvSpPr>
        <p:spPr>
          <a:xfrm>
            <a:off x="4754645" y="4601459"/>
            <a:ext cx="3847488" cy="1454426"/>
          </a:xfrm>
          <a:prstGeom prst="roundRect">
            <a:avLst>
              <a:gd name="adj" fmla="val 3165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i="1" u="sng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Deleveraging</a:t>
            </a:r>
            <a:endParaRPr lang="en-US" sz="200" u="sng" dirty="0">
              <a:solidFill>
                <a:schemeClr val="tx1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  <a:p>
            <a:endParaRPr lang="en-US" altLang="zh-CN" sz="1000" dirty="0">
              <a:solidFill>
                <a:schemeClr val="tx1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d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ebt leverage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graded leverage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prohibition of pledge financing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21EB609-352B-BC44-AB2D-A74157CF9BE9}"/>
              </a:ext>
            </a:extLst>
          </p:cNvPr>
          <p:cNvSpPr/>
          <p:nvPr/>
        </p:nvSpPr>
        <p:spPr>
          <a:xfrm>
            <a:off x="8683178" y="3512236"/>
            <a:ext cx="2914461" cy="1175028"/>
          </a:xfrm>
          <a:prstGeom prst="roundRect">
            <a:avLst>
              <a:gd name="adj" fmla="val 3165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i="1" u="sng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Licensing Management</a:t>
            </a:r>
            <a:endParaRPr lang="en-US" sz="200" u="sng" dirty="0">
              <a:solidFill>
                <a:schemeClr val="tx1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franchising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intelligent investment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distributor qualifications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1F1EFC77-152E-2047-B2DD-26ED955FDAF8}"/>
              </a:ext>
            </a:extLst>
          </p:cNvPr>
          <p:cNvSpPr/>
          <p:nvPr/>
        </p:nvSpPr>
        <p:spPr>
          <a:xfrm>
            <a:off x="8683177" y="4722076"/>
            <a:ext cx="2914461" cy="1330853"/>
          </a:xfrm>
          <a:prstGeom prst="roundRect">
            <a:avLst>
              <a:gd name="adj" fmla="val 3165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i="1" u="sng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De-pooling </a:t>
            </a:r>
            <a:endParaRPr lang="en-US" sz="1600" u="sng" dirty="0">
              <a:solidFill>
                <a:schemeClr val="tx1"/>
              </a:solidFill>
              <a:latin typeface="Times New Roman" panose="02020603050405020304" pitchFamily="18" charset="0"/>
              <a:ea typeface="KaiTi" panose="0201060906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three-order requirement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duration management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rPr>
              <a:t>prohibition of limits and mismatches</a:t>
            </a:r>
          </a:p>
        </p:txBody>
      </p:sp>
    </p:spTree>
    <p:extLst>
      <p:ext uri="{BB962C8B-B14F-4D97-AF65-F5344CB8AC3E}">
        <p14:creationId xmlns:p14="http://schemas.microsoft.com/office/powerpoint/2010/main" val="2896180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38D65C8-1685-2F47-8BC5-20F60F6A9C08}"/>
              </a:ext>
            </a:extLst>
          </p:cNvPr>
          <p:cNvGrpSpPr/>
          <p:nvPr/>
        </p:nvGrpSpPr>
        <p:grpSpPr>
          <a:xfrm>
            <a:off x="1558341" y="2190741"/>
            <a:ext cx="9075319" cy="2535439"/>
            <a:chOff x="1558341" y="2190741"/>
            <a:chExt cx="9075319" cy="253543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75E77C7-B47B-D245-AB00-740348771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341" y="2205471"/>
              <a:ext cx="4537659" cy="25059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31FB06C-A74A-8646-8B39-356459BA4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2190741"/>
              <a:ext cx="4537660" cy="25354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24059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3D641732-EBCA-4140-8194-9F4D60B2F833}"/>
              </a:ext>
            </a:extLst>
          </p:cNvPr>
          <p:cNvGrpSpPr/>
          <p:nvPr/>
        </p:nvGrpSpPr>
        <p:grpSpPr>
          <a:xfrm>
            <a:off x="1392065" y="1290811"/>
            <a:ext cx="9407870" cy="4276377"/>
            <a:chOff x="338559" y="478503"/>
            <a:chExt cx="9407870" cy="4276377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31C10CCC-016B-FE4E-80A1-23EF56110D72}"/>
                </a:ext>
              </a:extLst>
            </p:cNvPr>
            <p:cNvSpPr/>
            <p:nvPr/>
          </p:nvSpPr>
          <p:spPr>
            <a:xfrm>
              <a:off x="338559" y="478503"/>
              <a:ext cx="9407869" cy="4276377"/>
            </a:xfrm>
            <a:prstGeom prst="roundRect">
              <a:avLst>
                <a:gd name="adj" fmla="val 1005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5487FE2-4696-B34C-9307-739612B4A303}"/>
                </a:ext>
              </a:extLst>
            </p:cNvPr>
            <p:cNvSpPr txBox="1"/>
            <p:nvPr/>
          </p:nvSpPr>
          <p:spPr>
            <a:xfrm>
              <a:off x="338561" y="478503"/>
              <a:ext cx="940786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The</a:t>
              </a:r>
              <a:r>
                <a:rPr lang="zh-CN" altLang="en-US" b="1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 </a:t>
              </a:r>
              <a:r>
                <a:rPr lang="en-US" altLang="zh-CN" b="1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Involving Way of Commercial Banks</a:t>
              </a:r>
              <a:r>
                <a:rPr lang="zh-CN" altLang="en-US" b="1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 </a:t>
              </a:r>
              <a:r>
                <a:rPr lang="en-US" altLang="zh-CN" b="1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🏦</a:t>
              </a:r>
              <a:endPara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endParaRP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115437DC-BC6B-AB4F-B496-FB1F3FF581EE}"/>
                </a:ext>
              </a:extLst>
            </p:cNvPr>
            <p:cNvSpPr/>
            <p:nvPr/>
          </p:nvSpPr>
          <p:spPr>
            <a:xfrm>
              <a:off x="612290" y="1001358"/>
              <a:ext cx="3389556" cy="1688054"/>
            </a:xfrm>
            <a:prstGeom prst="roundRect">
              <a:avLst>
                <a:gd name="adj" fmla="val 462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Part 1. </a:t>
              </a:r>
              <a:r>
                <a:rPr lang="en-US" sz="1600" b="1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Transformation of financial products into net worth.</a:t>
              </a:r>
            </a:p>
            <a:p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endParaRP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table returns</a:t>
              </a: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marketable disposals </a:t>
              </a: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new product takeovers</a:t>
              </a:r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43810543-7417-6E45-9EE9-3D30FFF6D3E7}"/>
                </a:ext>
              </a:extLst>
            </p:cNvPr>
            <p:cNvSpPr/>
            <p:nvPr/>
          </p:nvSpPr>
          <p:spPr>
            <a:xfrm>
              <a:off x="4316281" y="1001358"/>
              <a:ext cx="5139691" cy="1688054"/>
            </a:xfrm>
            <a:prstGeom prst="roundRect">
              <a:avLst>
                <a:gd name="adj" fmla="val 4620"/>
              </a:avLst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Part 2. </a:t>
              </a:r>
              <a:r>
                <a:rPr lang="en-US" sz="1600" b="1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Risk control and product system simplification.</a:t>
              </a:r>
            </a:p>
            <a:p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Simplify the product system, reduce nesting, and enhance product penetration by the requirements of the new asset management regulations.</a:t>
              </a:r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92CCC14D-5F06-5D47-8837-11D3EA08DBF9}"/>
                </a:ext>
              </a:extLst>
            </p:cNvPr>
            <p:cNvSpPr/>
            <p:nvPr/>
          </p:nvSpPr>
          <p:spPr>
            <a:xfrm>
              <a:off x="612290" y="2842935"/>
              <a:ext cx="8843682" cy="1688054"/>
            </a:xfrm>
            <a:prstGeom prst="roundRect">
              <a:avLst>
                <a:gd name="adj" fmla="val 462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Part 3. </a:t>
              </a:r>
              <a:r>
                <a:rPr lang="en-US" sz="1600" b="1" i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Establishment of asset management subsidiary</a:t>
              </a:r>
              <a:r>
                <a:rPr lang="en-US" sz="16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.</a:t>
              </a:r>
            </a:p>
            <a:p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KaiTi" panose="02010609060101010101" pitchFamily="49" charset="-122"/>
                <a:cs typeface="Times New Roman" panose="02020603050405020304" pitchFamily="18" charset="0"/>
              </a:endParaRP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Transferring its stock of asset management business to asset management subsidiaries.</a:t>
              </a:r>
            </a:p>
            <a:p>
              <a:pPr marL="285750" indent="-285750">
                <a:buFont typeface="Wingdings" pitchFamily="2" charset="2"/>
                <a:buChar char="Ø"/>
              </a:pP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KaiTi" panose="02010609060101010101" pitchFamily="49" charset="-122"/>
                  <a:cs typeface="Times New Roman" panose="02020603050405020304" pitchFamily="18" charset="0"/>
                </a:rPr>
                <a:t>Bank wealth management subsidiaries also issued some new products, with stock transformation and new issuance going in parallel.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4738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1506</TotalTime>
  <Words>222</Words>
  <Application>Microsoft Macintosh PowerPoint</Application>
  <PresentationFormat>Widescreen</PresentationFormat>
  <Paragraphs>56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凯 任</dc:creator>
  <cp:lastModifiedBy>凯 任</cp:lastModifiedBy>
  <cp:revision>810</cp:revision>
  <dcterms:created xsi:type="dcterms:W3CDTF">2024-12-08T12:43:28Z</dcterms:created>
  <dcterms:modified xsi:type="dcterms:W3CDTF">2025-01-02T15:12:49Z</dcterms:modified>
</cp:coreProperties>
</file>