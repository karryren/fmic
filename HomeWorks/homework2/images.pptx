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35"/>
    <p:restoredTop sz="94632"/>
  </p:normalViewPr>
  <p:slideViewPr>
    <p:cSldViewPr snapToGrid="0" snapToObjects="1">
      <p:cViewPr varScale="1">
        <p:scale>
          <a:sx n="111" d="100"/>
          <a:sy n="111" d="100"/>
        </p:scale>
        <p:origin x="122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720EB-53FB-8C45-B9F4-828B521149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71FCB80-6504-F74E-A6BD-06DDFE2FB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B7B002FF-B244-8E46-B36E-E73696B99177}"/>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5" name="Footer Placeholder 4">
            <a:extLst>
              <a:ext uri="{FF2B5EF4-FFF2-40B4-BE49-F238E27FC236}">
                <a16:creationId xmlns:a16="http://schemas.microsoft.com/office/drawing/2014/main" id="{06E7D8C1-ADB5-9741-A2B0-FABD69C9886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1B99F4B2-C118-CF42-8C70-A6313F59F931}"/>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418070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0E0C-194B-1449-B4BC-54F04D3E012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688639F-9B87-F843-8AE2-09E6FAEBF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363F63D-429D-2D44-8128-C2D60A6479B2}"/>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5" name="Footer Placeholder 4">
            <a:extLst>
              <a:ext uri="{FF2B5EF4-FFF2-40B4-BE49-F238E27FC236}">
                <a16:creationId xmlns:a16="http://schemas.microsoft.com/office/drawing/2014/main" id="{D7234A83-74C4-D646-84B9-84AF0A16B97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1B877CA-1B73-954C-A863-B9BAE4A90821}"/>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3433016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7F54-D1C5-2C46-8C17-723ABE439E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D2180A37-DFB3-C64D-881E-0B3AFA3137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5620E8-6F6C-9547-AD68-CC10666F38FC}"/>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5" name="Footer Placeholder 4">
            <a:extLst>
              <a:ext uri="{FF2B5EF4-FFF2-40B4-BE49-F238E27FC236}">
                <a16:creationId xmlns:a16="http://schemas.microsoft.com/office/drawing/2014/main" id="{7D7E96C4-C3AD-B048-AAD0-70F796D3F672}"/>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DB265C00-4A1E-A745-A0AC-44951BCACD1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2500586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EF164-B0CF-DB4D-AA9C-F0089D5F2FB0}"/>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718210B7-72F2-F743-9E2F-84FDB9763B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B6F2B1C3-7F1F-A745-8239-D185FC85E7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D259B799-CA9F-AD45-9F1C-9D1FE0D6F85E}"/>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6" name="Footer Placeholder 5">
            <a:extLst>
              <a:ext uri="{FF2B5EF4-FFF2-40B4-BE49-F238E27FC236}">
                <a16:creationId xmlns:a16="http://schemas.microsoft.com/office/drawing/2014/main" id="{050AAB9A-8A80-1E4E-A83B-CD5F5E166FBF}"/>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30CB3930-31D2-E541-AF43-BFD8BD735AE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400561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A2721-CB19-594F-8545-29BA0A01D921}"/>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6766E377-DF7A-AA4D-AE1C-3084974ACE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9A6C03-0057-2741-8F19-B00AD48319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081DFFCB-7E58-F547-B57C-59517F7442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CCD656-CFC7-A748-8DF0-ECE43E4A02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B61CB36E-30B4-5044-8CC4-873BBC7F4A7C}"/>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8" name="Footer Placeholder 7">
            <a:extLst>
              <a:ext uri="{FF2B5EF4-FFF2-40B4-BE49-F238E27FC236}">
                <a16:creationId xmlns:a16="http://schemas.microsoft.com/office/drawing/2014/main" id="{1F7FF9F9-1A6C-1A4C-AB11-E9221D3955F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A12B7A7-CF18-644A-8857-6BEA6CBF239B}"/>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926979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990A7-D087-F042-97CF-0710D4AB2A57}"/>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AD13E029-E00F-A445-A322-3525FB707282}"/>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4" name="Footer Placeholder 3">
            <a:extLst>
              <a:ext uri="{FF2B5EF4-FFF2-40B4-BE49-F238E27FC236}">
                <a16:creationId xmlns:a16="http://schemas.microsoft.com/office/drawing/2014/main" id="{B8A503FE-3146-A642-8906-BC78B20855F6}"/>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4FB3951B-7A28-024D-84C1-6B6892B2620B}"/>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1633586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E66911-AB38-C646-8412-12B044B8D5E3}"/>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3" name="Footer Placeholder 2">
            <a:extLst>
              <a:ext uri="{FF2B5EF4-FFF2-40B4-BE49-F238E27FC236}">
                <a16:creationId xmlns:a16="http://schemas.microsoft.com/office/drawing/2014/main" id="{7B70C705-8C64-E645-8AEE-8FBFB8E830FE}"/>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18E3C0E9-B6B8-4E4C-8799-1B63647E6ABD}"/>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1771741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677E4-0B78-9942-AAE2-759BD6F79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E530B42D-F9EF-D647-B399-CD177D3F3C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1CC88570-EF94-554D-9F61-0A6586B194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0A9EB-B5B1-C84E-B444-1669C20BAAB1}"/>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6" name="Footer Placeholder 5">
            <a:extLst>
              <a:ext uri="{FF2B5EF4-FFF2-40B4-BE49-F238E27FC236}">
                <a16:creationId xmlns:a16="http://schemas.microsoft.com/office/drawing/2014/main" id="{683265E0-3984-1144-8FAB-0EB963E2A8B9}"/>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145ED609-D209-5E40-B2EB-992AE8C9DEE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2426849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B8C43-E09D-DB40-A870-49C81DFCE5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74ACA9BD-E3FC-6A44-B977-E87B457FF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81B067FF-4CFA-714F-AD91-6BF145F2C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0B5BB-49F7-7E4C-9569-5C10874E816F}"/>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6" name="Footer Placeholder 5">
            <a:extLst>
              <a:ext uri="{FF2B5EF4-FFF2-40B4-BE49-F238E27FC236}">
                <a16:creationId xmlns:a16="http://schemas.microsoft.com/office/drawing/2014/main" id="{FA08165A-EB64-F147-B7E8-1F7E88182CBD}"/>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C4256665-B1D0-7447-8392-EC9FDC67EC44}"/>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349926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CED74-159B-CA46-AF54-4B56C89FA6E3}"/>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8D4D69A4-2E32-BC4C-8B9B-474805F310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9CEEF034-161E-ED4C-9362-B4EFB3021442}"/>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5" name="Footer Placeholder 4">
            <a:extLst>
              <a:ext uri="{FF2B5EF4-FFF2-40B4-BE49-F238E27FC236}">
                <a16:creationId xmlns:a16="http://schemas.microsoft.com/office/drawing/2014/main" id="{995E2FFC-61D1-AD47-88E6-BE33A50C2614}"/>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960434D-72E7-A447-BF3A-B3400D3E486C}"/>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99506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AB0986-56FD-9A46-86D9-263058D303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D053A881-28AF-EC42-A693-C39F58F4E9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C2948647-8D82-C047-994B-93D826A9243D}"/>
              </a:ext>
            </a:extLst>
          </p:cNvPr>
          <p:cNvSpPr>
            <a:spLocks noGrp="1"/>
          </p:cNvSpPr>
          <p:nvPr>
            <p:ph type="dt" sz="half" idx="10"/>
          </p:nvPr>
        </p:nvSpPr>
        <p:spPr/>
        <p:txBody>
          <a:bodyPr/>
          <a:lstStyle/>
          <a:p>
            <a:fld id="{322E4AA4-BEDE-CB44-B2CC-66E1D385BA6A}" type="datetimeFigureOut">
              <a:rPr lang="en-CN" smtClean="0"/>
              <a:t>2025/1/2</a:t>
            </a:fld>
            <a:endParaRPr lang="en-CN"/>
          </a:p>
        </p:txBody>
      </p:sp>
      <p:sp>
        <p:nvSpPr>
          <p:cNvPr id="5" name="Footer Placeholder 4">
            <a:extLst>
              <a:ext uri="{FF2B5EF4-FFF2-40B4-BE49-F238E27FC236}">
                <a16:creationId xmlns:a16="http://schemas.microsoft.com/office/drawing/2014/main" id="{40CEAF93-4EB6-A34C-876A-F8FB11838C04}"/>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0021FF5A-6B7C-DD49-95E2-31113AF70068}"/>
              </a:ext>
            </a:extLst>
          </p:cNvPr>
          <p:cNvSpPr>
            <a:spLocks noGrp="1"/>
          </p:cNvSpPr>
          <p:nvPr>
            <p:ph type="sldNum" sz="quarter" idx="12"/>
          </p:nvPr>
        </p:nvSpPr>
        <p:spPr/>
        <p:txBody>
          <a:bodyPr/>
          <a:lstStyle/>
          <a:p>
            <a:fld id="{6D795B09-EF84-4B40-ABD6-33507B264A7C}" type="slidenum">
              <a:rPr lang="en-CN" smtClean="0"/>
              <a:t>‹#›</a:t>
            </a:fld>
            <a:endParaRPr lang="en-CN"/>
          </a:p>
        </p:txBody>
      </p:sp>
    </p:spTree>
    <p:extLst>
      <p:ext uri="{BB962C8B-B14F-4D97-AF65-F5344CB8AC3E}">
        <p14:creationId xmlns:p14="http://schemas.microsoft.com/office/powerpoint/2010/main" val="2597130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0124B-EC56-C244-961E-84B7B9665C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673C7A82-827E-C241-8D5C-3DCF664866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3321F4DE-C346-0241-BAF0-47749526F3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2E4AA4-BEDE-CB44-B2CC-66E1D385BA6A}" type="datetimeFigureOut">
              <a:rPr lang="en-CN" smtClean="0"/>
              <a:t>2025/1/2</a:t>
            </a:fld>
            <a:endParaRPr lang="en-CN"/>
          </a:p>
        </p:txBody>
      </p:sp>
      <p:sp>
        <p:nvSpPr>
          <p:cNvPr id="5" name="Footer Placeholder 4">
            <a:extLst>
              <a:ext uri="{FF2B5EF4-FFF2-40B4-BE49-F238E27FC236}">
                <a16:creationId xmlns:a16="http://schemas.microsoft.com/office/drawing/2014/main" id="{73140BB8-F699-B74E-BDBD-9031752F63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3029C3FE-78DE-DF42-B327-DA3E0554DE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795B09-EF84-4B40-ABD6-33507B264A7C}" type="slidenum">
              <a:rPr lang="en-CN" smtClean="0"/>
              <a:t>‹#›</a:t>
            </a:fld>
            <a:endParaRPr lang="en-CN"/>
          </a:p>
        </p:txBody>
      </p:sp>
    </p:spTree>
    <p:extLst>
      <p:ext uri="{BB962C8B-B14F-4D97-AF65-F5344CB8AC3E}">
        <p14:creationId xmlns:p14="http://schemas.microsoft.com/office/powerpoint/2010/main" val="197341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408DF36-512A-C146-9936-E78549573286}"/>
              </a:ext>
            </a:extLst>
          </p:cNvPr>
          <p:cNvSpPr/>
          <p:nvPr/>
        </p:nvSpPr>
        <p:spPr>
          <a:xfrm>
            <a:off x="829520" y="5329310"/>
            <a:ext cx="4436006" cy="854320"/>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PBOC</a:t>
            </a:r>
            <a:r>
              <a:rPr lang="zh-CN" altLang="en-US"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Sept. 24th </a:t>
            </a:r>
          </a:p>
          <a:p>
            <a:pPr algn="ctr"/>
            <a:r>
              <a:rPr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Monetary Easing Package </a:t>
            </a:r>
            <a:endParaRPr lang="en-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5" name="Rounded Rectangle 4">
            <a:extLst>
              <a:ext uri="{FF2B5EF4-FFF2-40B4-BE49-F238E27FC236}">
                <a16:creationId xmlns:a16="http://schemas.microsoft.com/office/drawing/2014/main" id="{A0F7C48F-7391-7C42-A19E-5F73406D9F83}"/>
              </a:ext>
            </a:extLst>
          </p:cNvPr>
          <p:cNvSpPr/>
          <p:nvPr/>
        </p:nvSpPr>
        <p:spPr>
          <a:xfrm>
            <a:off x="829519" y="776253"/>
            <a:ext cx="10532962" cy="1738347"/>
          </a:xfrm>
          <a:prstGeom prst="roundRect">
            <a:avLst>
              <a:gd name="adj" fmla="val 6972"/>
            </a:avLst>
          </a:prstGeom>
          <a:solidFill>
            <a:schemeClr val="accent6">
              <a:lumMod val="20000"/>
              <a:lumOff val="8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Stock Market: Two Innovative Monetary Policy Tools 💵</a:t>
            </a:r>
            <a:endParaRPr lang="en-CN"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Rounded Rectangle 5">
            <a:extLst>
              <a:ext uri="{FF2B5EF4-FFF2-40B4-BE49-F238E27FC236}">
                <a16:creationId xmlns:a16="http://schemas.microsoft.com/office/drawing/2014/main" id="{C748A44E-4035-8C4C-928E-1038CF78B79B}"/>
              </a:ext>
            </a:extLst>
          </p:cNvPr>
          <p:cNvSpPr/>
          <p:nvPr/>
        </p:nvSpPr>
        <p:spPr>
          <a:xfrm>
            <a:off x="829520" y="2674620"/>
            <a:ext cx="4436006" cy="2494670"/>
          </a:xfrm>
          <a:prstGeom prst="roundRect">
            <a:avLst>
              <a:gd name="adj" fmla="val 5574"/>
            </a:avLst>
          </a:prstGeom>
          <a:solidFill>
            <a:schemeClr val="accent5">
              <a:lumMod val="20000"/>
              <a:lumOff val="8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Money Market</a:t>
            </a:r>
            <a:r>
              <a:rPr lang="zh-CN" alt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9" name="Rounded Rectangle 8">
            <a:extLst>
              <a:ext uri="{FF2B5EF4-FFF2-40B4-BE49-F238E27FC236}">
                <a16:creationId xmlns:a16="http://schemas.microsoft.com/office/drawing/2014/main" id="{F1A0D57E-F596-244B-A106-8AE1CD07F25D}"/>
              </a:ext>
            </a:extLst>
          </p:cNvPr>
          <p:cNvSpPr/>
          <p:nvPr/>
        </p:nvSpPr>
        <p:spPr>
          <a:xfrm>
            <a:off x="951865" y="1284978"/>
            <a:ext cx="5079131" cy="1145841"/>
          </a:xfrm>
          <a:prstGeom prst="roundRect">
            <a:avLst>
              <a:gd name="adj" fmla="val 5837"/>
            </a:avLst>
          </a:prstGeom>
          <a:solidFill>
            <a:schemeClr val="accent6">
              <a:lumMod val="40000"/>
              <a:lumOff val="60000"/>
            </a:schemeClr>
          </a:solidFill>
          <a:ln w="19050">
            <a:solidFill>
              <a:schemeClr val="accent6">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b="1" i="1" u="sng"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SFISF:</a:t>
            </a:r>
            <a:r>
              <a:rPr lang="en-US" sz="1600" b="1"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 </a:t>
            </a:r>
            <a:r>
              <a:rPr lang="en-US" sz="1600"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Supporting eligible institutions to obtain liquidity from the central bank through asset pledges, with an initial swap facility operation of 500 billion yuan.</a:t>
            </a:r>
          </a:p>
          <a:p>
            <a:pPr algn="just"/>
            <a:r>
              <a:rPr lang="en-US" altLang="zh-CN" sz="16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(I will focus on analyzing this policy)</a:t>
            </a:r>
            <a:endParaRPr lang="en-CN" sz="16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Rounded Rectangle 10">
            <a:extLst>
              <a:ext uri="{FF2B5EF4-FFF2-40B4-BE49-F238E27FC236}">
                <a16:creationId xmlns:a16="http://schemas.microsoft.com/office/drawing/2014/main" id="{377FE554-D6E5-724E-924C-4449E20DBE26}"/>
              </a:ext>
            </a:extLst>
          </p:cNvPr>
          <p:cNvSpPr/>
          <p:nvPr/>
        </p:nvSpPr>
        <p:spPr>
          <a:xfrm>
            <a:off x="6161006" y="1284977"/>
            <a:ext cx="5079133" cy="1145841"/>
          </a:xfrm>
          <a:prstGeom prst="roundRect">
            <a:avLst>
              <a:gd name="adj" fmla="val 5837"/>
            </a:avLst>
          </a:prstGeom>
          <a:solidFill>
            <a:schemeClr val="accent6">
              <a:lumMod val="40000"/>
              <a:lumOff val="60000"/>
            </a:schemeClr>
          </a:solidFill>
          <a:ln w="19050">
            <a:solidFill>
              <a:schemeClr val="accent6">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b="1" i="1" u="sng"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LFSBIS:</a:t>
            </a:r>
            <a:r>
              <a:rPr lang="en-US" sz="1600" b="1" i="1"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 </a:t>
            </a:r>
            <a:r>
              <a:rPr lang="en-US" sz="1600" dirty="0">
                <a:solidFill>
                  <a:srgbClr val="000000"/>
                </a:solidFill>
                <a:effectLst/>
                <a:latin typeface="Times New Roman" panose="02020603050405020304" pitchFamily="18" charset="0"/>
                <a:ea typeface="KaiTi" panose="02010609060101010101" pitchFamily="49" charset="-122"/>
                <a:cs typeface="Times New Roman" panose="02020603050405020304" pitchFamily="18" charset="0"/>
              </a:rPr>
              <a:t>Guiding commercial banks to provide loans to listed companies and major shareholders to support the repurchase and increase the shareholding of listed companies, with an initial amount of 300 billion yuan. </a:t>
            </a:r>
            <a:endParaRPr lang="en-CN" sz="16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14" name="Rounded Rectangle 13">
            <a:extLst>
              <a:ext uri="{FF2B5EF4-FFF2-40B4-BE49-F238E27FC236}">
                <a16:creationId xmlns:a16="http://schemas.microsoft.com/office/drawing/2014/main" id="{61F2628D-B9FF-BE4C-B1B4-93CD8C682BB4}"/>
              </a:ext>
            </a:extLst>
          </p:cNvPr>
          <p:cNvSpPr/>
          <p:nvPr/>
        </p:nvSpPr>
        <p:spPr>
          <a:xfrm>
            <a:off x="951865" y="3162219"/>
            <a:ext cx="4180205" cy="1847053"/>
          </a:xfrm>
          <a:prstGeom prst="roundRect">
            <a:avLst>
              <a:gd name="adj" fmla="val 5837"/>
            </a:avLst>
          </a:prstGeom>
          <a:solidFill>
            <a:schemeClr val="accent5">
              <a:lumMod val="40000"/>
              <a:lumOff val="60000"/>
            </a:schemeClr>
          </a:solidFill>
          <a:ln w="19050">
            <a:solidFill>
              <a:schemeClr val="accent5">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Volume Increase:</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RRR</a:t>
            </a:r>
            <a:r>
              <a:rPr lang="zh-CN" alt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cut by 50 bp, releasing liquidity of around 1 trillion, with a possible second cut of 25-50 bp in </a:t>
            </a:r>
            <a:r>
              <a:rPr lang="en-US" altLang="zh-CN"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2024</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p>
          <a:p>
            <a:pPr marL="285750" indent="-285750" algn="just">
              <a:spcAft>
                <a:spcPts val="300"/>
              </a:spcAft>
              <a:buFont typeface="Wingdings" pitchFamily="2" charset="2"/>
              <a:buChar char="v"/>
            </a:pPr>
            <a:r>
              <a:rPr lang="en-US" altLang="zh-CN"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Price</a:t>
            </a:r>
            <a:r>
              <a:rPr lang="zh-CN" alt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Decrease:</a:t>
            </a:r>
            <a:r>
              <a:rPr lang="en-US" altLang="zh-CN"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7-day reverse repo rate cut by 20bp to 1.5%, MLF rate cut by 30bp to 2.0%, LPR and deposit rate cut by 20~25bp.</a:t>
            </a:r>
          </a:p>
        </p:txBody>
      </p:sp>
      <p:sp>
        <p:nvSpPr>
          <p:cNvPr id="15" name="Rounded Rectangle 14">
            <a:extLst>
              <a:ext uri="{FF2B5EF4-FFF2-40B4-BE49-F238E27FC236}">
                <a16:creationId xmlns:a16="http://schemas.microsoft.com/office/drawing/2014/main" id="{ACF74B08-0AC4-034B-A9E6-3C9660530D20}"/>
              </a:ext>
            </a:extLst>
          </p:cNvPr>
          <p:cNvSpPr/>
          <p:nvPr/>
        </p:nvSpPr>
        <p:spPr>
          <a:xfrm>
            <a:off x="5381837" y="2674619"/>
            <a:ext cx="5980643" cy="3509011"/>
          </a:xfrm>
          <a:prstGeom prst="roundRect">
            <a:avLst>
              <a:gd name="adj" fmla="val 5574"/>
            </a:avLst>
          </a:prstGeom>
          <a:solidFill>
            <a:schemeClr val="accent2">
              <a:lumMod val="20000"/>
              <a:lumOff val="8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Real Estate Market</a:t>
            </a:r>
            <a:r>
              <a:rPr lang="zh-CN" alt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CN"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US"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6" name="Rounded Rectangle 15">
            <a:extLst>
              <a:ext uri="{FF2B5EF4-FFF2-40B4-BE49-F238E27FC236}">
                <a16:creationId xmlns:a16="http://schemas.microsoft.com/office/drawing/2014/main" id="{2527A65A-DCE5-574D-B286-58A445C7D0BA}"/>
              </a:ext>
            </a:extLst>
          </p:cNvPr>
          <p:cNvSpPr/>
          <p:nvPr/>
        </p:nvSpPr>
        <p:spPr>
          <a:xfrm>
            <a:off x="5474812" y="3162219"/>
            <a:ext cx="5759768" cy="2877700"/>
          </a:xfrm>
          <a:prstGeom prst="roundRect">
            <a:avLst>
              <a:gd name="adj" fmla="val 5837"/>
            </a:avLst>
          </a:prstGeom>
          <a:solidFill>
            <a:schemeClr val="accent2">
              <a:lumMod val="40000"/>
              <a:lumOff val="60000"/>
            </a:schemeClr>
          </a:solidFill>
          <a:ln w="1905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Reducing interest rates </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on stock mortgages to near the rate for new originations, expected to average about 0.5%. </a:t>
            </a:r>
          </a:p>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Lowering</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the minimum down payment ratio for second-suite loans from 25% to 15%.</a:t>
            </a:r>
          </a:p>
          <a:p>
            <a:pPr marL="285750" indent="-285750" algn="just">
              <a:spcAft>
                <a:spcPts val="300"/>
              </a:spcAft>
              <a:buFont typeface="Wingdings" pitchFamily="2" charset="2"/>
              <a:buChar char="v"/>
            </a:pP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The proportion of central bank funding support in the previously created 300 billion yuan guaranteed housing refinancing will be </a:t>
            </a: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increased from 60% to 100%</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p>
          <a:p>
            <a:pPr marL="285750" indent="-285750" algn="just">
              <a:spcAft>
                <a:spcPts val="300"/>
              </a:spcAft>
              <a:buFont typeface="Wingdings" pitchFamily="2" charset="2"/>
              <a:buChar char="v"/>
            </a:pPr>
            <a:r>
              <a:rPr lang="en-US" sz="1600" b="1" i="1" u="sng"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Extension</a:t>
            </a:r>
            <a:r>
              <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 of phased policies on the roll-over of inventory financing for real estate enterprises and loans for operating properties until the end of 2026</a:t>
            </a:r>
            <a:r>
              <a:rPr lang="en-US" altLang="zh-CN"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US" sz="16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7" name="Sun 16">
            <a:extLst>
              <a:ext uri="{FF2B5EF4-FFF2-40B4-BE49-F238E27FC236}">
                <a16:creationId xmlns:a16="http://schemas.microsoft.com/office/drawing/2014/main" id="{2C01EC1C-B5DD-8C48-82BE-DAAD5CD1111F}"/>
              </a:ext>
            </a:extLst>
          </p:cNvPr>
          <p:cNvSpPr/>
          <p:nvPr/>
        </p:nvSpPr>
        <p:spPr>
          <a:xfrm>
            <a:off x="5580482" y="1980305"/>
            <a:ext cx="450514" cy="450514"/>
          </a:xfrm>
          <a:prstGeom prst="sun">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465192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6239B50-8E64-4A42-A81C-147CDEA846C1}"/>
              </a:ext>
            </a:extLst>
          </p:cNvPr>
          <p:cNvSpPr/>
          <p:nvPr/>
        </p:nvSpPr>
        <p:spPr>
          <a:xfrm>
            <a:off x="266218" y="2369241"/>
            <a:ext cx="2550289" cy="646495"/>
          </a:xfrm>
          <a:prstGeom prst="rect">
            <a:avLst/>
          </a:prstGeom>
          <a:solidFill>
            <a:schemeClr val="accent6">
              <a:lumMod val="20000"/>
              <a:lumOff val="80000"/>
            </a:schemeClr>
          </a:solidFill>
          <a:ln w="19050">
            <a:solidFill>
              <a:schemeClr val="tx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b="1" dirty="0">
                <a:solidFill>
                  <a:schemeClr val="tx1"/>
                </a:solidFill>
                <a:latin typeface="Times New Roman" panose="02020603050405020304" pitchFamily="18" charset="0"/>
                <a:cs typeface="Times New Roman" panose="02020603050405020304" pitchFamily="18" charset="0"/>
              </a:rPr>
              <a:t>PBOC</a:t>
            </a:r>
          </a:p>
        </p:txBody>
      </p:sp>
      <p:sp>
        <p:nvSpPr>
          <p:cNvPr id="6" name="Rectangle 5">
            <a:extLst>
              <a:ext uri="{FF2B5EF4-FFF2-40B4-BE49-F238E27FC236}">
                <a16:creationId xmlns:a16="http://schemas.microsoft.com/office/drawing/2014/main" id="{DE7DD7D9-714D-7E46-8E93-175F36825184}"/>
              </a:ext>
            </a:extLst>
          </p:cNvPr>
          <p:cNvSpPr/>
          <p:nvPr/>
        </p:nvSpPr>
        <p:spPr>
          <a:xfrm>
            <a:off x="4820854" y="2369241"/>
            <a:ext cx="2550289" cy="646495"/>
          </a:xfrm>
          <a:prstGeom prst="rect">
            <a:avLst/>
          </a:prstGeom>
          <a:solidFill>
            <a:schemeClr val="accent6">
              <a:lumMod val="20000"/>
              <a:lumOff val="80000"/>
            </a:schemeClr>
          </a:solidFill>
          <a:ln w="19050">
            <a:solidFill>
              <a:schemeClr val="tx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000000"/>
                </a:solidFill>
                <a:effectLst/>
                <a:latin typeface="Times New Roman" panose="02020603050405020304" pitchFamily="18" charset="0"/>
                <a:ea typeface="KaiTi" panose="02010609060101010101" pitchFamily="49" charset="-122"/>
              </a:rPr>
              <a:t>Securities, Funds and Insurance Companies</a:t>
            </a:r>
            <a:r>
              <a:rPr lang="en-CN" b="1" dirty="0">
                <a:effectLst/>
              </a:rPr>
              <a:t> </a:t>
            </a:r>
            <a:endParaRPr lang="en-CN"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7F556E3-E4A0-2148-8113-600CB583AA59}"/>
              </a:ext>
            </a:extLst>
          </p:cNvPr>
          <p:cNvSpPr/>
          <p:nvPr/>
        </p:nvSpPr>
        <p:spPr>
          <a:xfrm>
            <a:off x="9375490" y="2369240"/>
            <a:ext cx="2550289" cy="646495"/>
          </a:xfrm>
          <a:prstGeom prst="rect">
            <a:avLst/>
          </a:prstGeom>
          <a:solidFill>
            <a:schemeClr val="accent6">
              <a:lumMod val="20000"/>
              <a:lumOff val="80000"/>
            </a:schemeClr>
          </a:solidFill>
          <a:ln w="19050">
            <a:solidFill>
              <a:schemeClr val="tx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Secondary Market</a:t>
            </a:r>
            <a:endParaRPr lang="en-CN" b="1" dirty="0">
              <a:solidFill>
                <a:schemeClr val="tx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4BD00138-F6BD-7748-8964-B4B38EEE0839}"/>
              </a:ext>
            </a:extLst>
          </p:cNvPr>
          <p:cNvSpPr/>
          <p:nvPr/>
        </p:nvSpPr>
        <p:spPr>
          <a:xfrm>
            <a:off x="4820854" y="4247112"/>
            <a:ext cx="2550289" cy="646495"/>
          </a:xfrm>
          <a:prstGeom prst="rect">
            <a:avLst/>
          </a:prstGeom>
          <a:solidFill>
            <a:schemeClr val="accent6">
              <a:lumMod val="20000"/>
              <a:lumOff val="80000"/>
            </a:schemeClr>
          </a:solidFill>
          <a:ln w="19050">
            <a:solidFill>
              <a:schemeClr val="tx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b="1" dirty="0">
                <a:solidFill>
                  <a:schemeClr val="tx1"/>
                </a:solidFill>
                <a:latin typeface="Times New Roman" panose="02020603050405020304" pitchFamily="18" charset="0"/>
                <a:cs typeface="Times New Roman" panose="02020603050405020304" pitchFamily="18" charset="0"/>
              </a:rPr>
              <a:t>Stock Market</a:t>
            </a:r>
          </a:p>
        </p:txBody>
      </p:sp>
      <p:grpSp>
        <p:nvGrpSpPr>
          <p:cNvPr id="12" name="Group 11">
            <a:extLst>
              <a:ext uri="{FF2B5EF4-FFF2-40B4-BE49-F238E27FC236}">
                <a16:creationId xmlns:a16="http://schemas.microsoft.com/office/drawing/2014/main" id="{B9C4FD50-A12F-3D44-B63F-69BB9299723E}"/>
              </a:ext>
            </a:extLst>
          </p:cNvPr>
          <p:cNvGrpSpPr/>
          <p:nvPr/>
        </p:nvGrpSpPr>
        <p:grpSpPr>
          <a:xfrm>
            <a:off x="2816506" y="2550113"/>
            <a:ext cx="2004348" cy="284748"/>
            <a:chOff x="2816506" y="3398002"/>
            <a:chExt cx="2004348" cy="284748"/>
          </a:xfrm>
        </p:grpSpPr>
        <p:cxnSp>
          <p:nvCxnSpPr>
            <p:cNvPr id="10" name="Straight Arrow Connector 9">
              <a:extLst>
                <a:ext uri="{FF2B5EF4-FFF2-40B4-BE49-F238E27FC236}">
                  <a16:creationId xmlns:a16="http://schemas.microsoft.com/office/drawing/2014/main" id="{F22876C3-B594-F044-AD59-0013DCEE5E93}"/>
                </a:ext>
              </a:extLst>
            </p:cNvPr>
            <p:cNvCxnSpPr>
              <a:cxnSpLocks/>
            </p:cNvCxnSpPr>
            <p:nvPr/>
          </p:nvCxnSpPr>
          <p:spPr>
            <a:xfrm>
              <a:off x="2816507" y="3398002"/>
              <a:ext cx="2004347" cy="0"/>
            </a:xfrm>
            <a:prstGeom prst="straightConnector1">
              <a:avLst/>
            </a:prstGeom>
            <a:ln w="15875">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A252B74-7F7E-0D42-B6A0-2BB0273C3B5C}"/>
                </a:ext>
              </a:extLst>
            </p:cNvPr>
            <p:cNvCxnSpPr>
              <a:cxnSpLocks/>
            </p:cNvCxnSpPr>
            <p:nvPr/>
          </p:nvCxnSpPr>
          <p:spPr>
            <a:xfrm>
              <a:off x="2816506" y="3682750"/>
              <a:ext cx="2004347" cy="0"/>
            </a:xfrm>
            <a:prstGeom prst="straightConnector1">
              <a:avLst/>
            </a:prstGeom>
            <a:ln w="15875">
              <a:solidFill>
                <a:schemeClr val="accent2"/>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505F4F6C-3628-3B46-B4EA-1B2C32EC03F8}"/>
              </a:ext>
            </a:extLst>
          </p:cNvPr>
          <p:cNvSpPr txBox="1"/>
          <p:nvPr/>
        </p:nvSpPr>
        <p:spPr>
          <a:xfrm>
            <a:off x="2816504" y="1965526"/>
            <a:ext cx="2004347" cy="584775"/>
          </a:xfrm>
          <a:prstGeom prst="rect">
            <a:avLst/>
          </a:prstGeom>
          <a:noFill/>
        </p:spPr>
        <p:txBody>
          <a:bodyPr wrap="square">
            <a:spAutoFit/>
          </a:bodyPr>
          <a:lstStyle/>
          <a:p>
            <a:pPr algn="ctr"/>
            <a:r>
              <a:rPr lang="en-US" sz="1600" i="1" dirty="0">
                <a:solidFill>
                  <a:schemeClr val="accent2"/>
                </a:solidFill>
                <a:effectLst/>
                <a:latin typeface="Times New Roman" panose="02020603050405020304" pitchFamily="18" charset="0"/>
                <a:ea typeface="KaiTi" panose="02010609060101010101" pitchFamily="49" charset="-122"/>
              </a:rPr>
              <a:t>Treasury bonds and central bank bills</a:t>
            </a:r>
            <a:r>
              <a:rPr lang="en-CN" sz="1600" i="1" dirty="0">
                <a:solidFill>
                  <a:schemeClr val="accent2"/>
                </a:solidFill>
                <a:effectLst/>
              </a:rPr>
              <a:t> </a:t>
            </a:r>
            <a:endParaRPr lang="en-CN" sz="1600" i="1" dirty="0">
              <a:solidFill>
                <a:schemeClr val="accent2"/>
              </a:solidFill>
            </a:endParaRPr>
          </a:p>
        </p:txBody>
      </p:sp>
      <p:sp>
        <p:nvSpPr>
          <p:cNvPr id="16" name="TextBox 15">
            <a:extLst>
              <a:ext uri="{FF2B5EF4-FFF2-40B4-BE49-F238E27FC236}">
                <a16:creationId xmlns:a16="http://schemas.microsoft.com/office/drawing/2014/main" id="{2020FC83-2743-FD42-83EE-82A133B1C2BB}"/>
              </a:ext>
            </a:extLst>
          </p:cNvPr>
          <p:cNvSpPr txBox="1"/>
          <p:nvPr/>
        </p:nvSpPr>
        <p:spPr>
          <a:xfrm>
            <a:off x="2815702" y="2844575"/>
            <a:ext cx="2004347" cy="584775"/>
          </a:xfrm>
          <a:prstGeom prst="rect">
            <a:avLst/>
          </a:prstGeom>
          <a:noFill/>
        </p:spPr>
        <p:txBody>
          <a:bodyPr wrap="square">
            <a:spAutoFit/>
          </a:bodyPr>
          <a:lstStyle/>
          <a:p>
            <a:pPr algn="ctr"/>
            <a:r>
              <a:rPr lang="en-US" sz="1600" i="1" dirty="0">
                <a:solidFill>
                  <a:schemeClr val="accent2"/>
                </a:solidFill>
                <a:latin typeface="Times New Roman" panose="02020603050405020304" pitchFamily="18" charset="0"/>
                <a:ea typeface="KaiTi" panose="02010609060101010101" pitchFamily="49" charset="-122"/>
              </a:rPr>
              <a:t>B</a:t>
            </a:r>
            <a:r>
              <a:rPr lang="en-US" sz="1600" i="1" dirty="0">
                <a:solidFill>
                  <a:schemeClr val="accent2"/>
                </a:solidFill>
                <a:effectLst/>
                <a:latin typeface="Times New Roman" panose="02020603050405020304" pitchFamily="18" charset="0"/>
                <a:ea typeface="KaiTi" panose="02010609060101010101" pitchFamily="49" charset="-122"/>
              </a:rPr>
              <a:t>onds, Stock ETFs and CSI 300 stocks</a:t>
            </a:r>
            <a:r>
              <a:rPr lang="en-CN" sz="1600" i="1" dirty="0">
                <a:solidFill>
                  <a:schemeClr val="accent2"/>
                </a:solidFill>
                <a:effectLst/>
              </a:rPr>
              <a:t> </a:t>
            </a:r>
            <a:endParaRPr lang="en-CN" sz="1600" i="1" dirty="0">
              <a:solidFill>
                <a:schemeClr val="accent2"/>
              </a:solidFill>
            </a:endParaRPr>
          </a:p>
        </p:txBody>
      </p:sp>
      <p:grpSp>
        <p:nvGrpSpPr>
          <p:cNvPr id="17" name="Group 16">
            <a:extLst>
              <a:ext uri="{FF2B5EF4-FFF2-40B4-BE49-F238E27FC236}">
                <a16:creationId xmlns:a16="http://schemas.microsoft.com/office/drawing/2014/main" id="{8F2DFFBF-98E0-E34F-97BA-C88E4A45095E}"/>
              </a:ext>
            </a:extLst>
          </p:cNvPr>
          <p:cNvGrpSpPr/>
          <p:nvPr/>
        </p:nvGrpSpPr>
        <p:grpSpPr>
          <a:xfrm>
            <a:off x="7371142" y="2550113"/>
            <a:ext cx="2004348" cy="284748"/>
            <a:chOff x="2816506" y="3398002"/>
            <a:chExt cx="2004348" cy="284748"/>
          </a:xfrm>
        </p:grpSpPr>
        <p:cxnSp>
          <p:nvCxnSpPr>
            <p:cNvPr id="18" name="Straight Arrow Connector 17">
              <a:extLst>
                <a:ext uri="{FF2B5EF4-FFF2-40B4-BE49-F238E27FC236}">
                  <a16:creationId xmlns:a16="http://schemas.microsoft.com/office/drawing/2014/main" id="{A5B1195C-C868-0645-BC0A-F76A1F60DB30}"/>
                </a:ext>
              </a:extLst>
            </p:cNvPr>
            <p:cNvCxnSpPr>
              <a:cxnSpLocks/>
            </p:cNvCxnSpPr>
            <p:nvPr/>
          </p:nvCxnSpPr>
          <p:spPr>
            <a:xfrm>
              <a:off x="2816507" y="3398002"/>
              <a:ext cx="2004347" cy="0"/>
            </a:xfrm>
            <a:prstGeom prst="straightConnector1">
              <a:avLst/>
            </a:prstGeom>
            <a:ln w="15875">
              <a:solidFill>
                <a:schemeClr val="accent5"/>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167FCED-13BB-324E-AFA2-759B4E3EE4A9}"/>
                </a:ext>
              </a:extLst>
            </p:cNvPr>
            <p:cNvCxnSpPr>
              <a:cxnSpLocks/>
            </p:cNvCxnSpPr>
            <p:nvPr/>
          </p:nvCxnSpPr>
          <p:spPr>
            <a:xfrm>
              <a:off x="2816506" y="3682750"/>
              <a:ext cx="2004347" cy="0"/>
            </a:xfrm>
            <a:prstGeom prst="straightConnector1">
              <a:avLst/>
            </a:prstGeom>
            <a:ln w="15875">
              <a:solidFill>
                <a:schemeClr val="accent5"/>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3A074757-8146-2B41-8844-5F423D409105}"/>
              </a:ext>
            </a:extLst>
          </p:cNvPr>
          <p:cNvSpPr txBox="1"/>
          <p:nvPr/>
        </p:nvSpPr>
        <p:spPr>
          <a:xfrm>
            <a:off x="7371137" y="1959626"/>
            <a:ext cx="2004347" cy="584775"/>
          </a:xfrm>
          <a:prstGeom prst="rect">
            <a:avLst/>
          </a:prstGeom>
          <a:noFill/>
        </p:spPr>
        <p:txBody>
          <a:bodyPr wrap="square">
            <a:spAutoFit/>
          </a:bodyPr>
          <a:lstStyle/>
          <a:p>
            <a:pPr algn="ctr"/>
            <a:r>
              <a:rPr lang="en-US" sz="1600" i="1" dirty="0">
                <a:solidFill>
                  <a:schemeClr val="accent5"/>
                </a:solidFill>
                <a:effectLst/>
                <a:latin typeface="Times New Roman" panose="02020603050405020304" pitchFamily="18" charset="0"/>
                <a:ea typeface="KaiTi" panose="02010609060101010101" pitchFamily="49" charset="-122"/>
              </a:rPr>
              <a:t>Treasury bonds and central bank bills</a:t>
            </a:r>
            <a:r>
              <a:rPr lang="en-CN" sz="1600" i="1" dirty="0">
                <a:solidFill>
                  <a:schemeClr val="accent5"/>
                </a:solidFill>
                <a:effectLst/>
              </a:rPr>
              <a:t> </a:t>
            </a:r>
            <a:endParaRPr lang="en-CN" sz="1600" i="1" dirty="0">
              <a:solidFill>
                <a:schemeClr val="accent5"/>
              </a:solidFill>
            </a:endParaRPr>
          </a:p>
        </p:txBody>
      </p:sp>
      <p:sp>
        <p:nvSpPr>
          <p:cNvPr id="21" name="TextBox 20">
            <a:extLst>
              <a:ext uri="{FF2B5EF4-FFF2-40B4-BE49-F238E27FC236}">
                <a16:creationId xmlns:a16="http://schemas.microsoft.com/office/drawing/2014/main" id="{662CC380-DC31-CA4D-BD40-C5B155503B3F}"/>
              </a:ext>
            </a:extLst>
          </p:cNvPr>
          <p:cNvSpPr txBox="1"/>
          <p:nvPr/>
        </p:nvSpPr>
        <p:spPr>
          <a:xfrm>
            <a:off x="7371137" y="2842763"/>
            <a:ext cx="2004347" cy="338554"/>
          </a:xfrm>
          <a:prstGeom prst="rect">
            <a:avLst/>
          </a:prstGeom>
          <a:noFill/>
        </p:spPr>
        <p:txBody>
          <a:bodyPr wrap="square">
            <a:spAutoFit/>
          </a:bodyPr>
          <a:lstStyle/>
          <a:p>
            <a:pPr algn="ctr"/>
            <a:r>
              <a:rPr lang="en-US" sz="1600" i="1" dirty="0">
                <a:solidFill>
                  <a:schemeClr val="accent5"/>
                </a:solidFill>
                <a:latin typeface="Times New Roman" panose="02020603050405020304" pitchFamily="18" charset="0"/>
                <a:ea typeface="KaiTi" panose="02010609060101010101" pitchFamily="49" charset="-122"/>
              </a:rPr>
              <a:t>Special Funding</a:t>
            </a:r>
            <a:r>
              <a:rPr lang="zh-CN" altLang="en-US" sz="1600" i="1" dirty="0">
                <a:solidFill>
                  <a:schemeClr val="accent5"/>
                </a:solidFill>
                <a:latin typeface="Times New Roman" panose="02020603050405020304" pitchFamily="18" charset="0"/>
                <a:ea typeface="KaiTi" panose="02010609060101010101" pitchFamily="49" charset="-122"/>
              </a:rPr>
              <a:t> </a:t>
            </a:r>
            <a:r>
              <a:rPr lang="en-US" altLang="zh-CN" sz="1600"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CN" sz="1600" i="1" dirty="0">
              <a:solidFill>
                <a:schemeClr val="accent5"/>
              </a:solidFill>
            </a:endParaRPr>
          </a:p>
        </p:txBody>
      </p:sp>
      <p:grpSp>
        <p:nvGrpSpPr>
          <p:cNvPr id="50" name="Group 49">
            <a:extLst>
              <a:ext uri="{FF2B5EF4-FFF2-40B4-BE49-F238E27FC236}">
                <a16:creationId xmlns:a16="http://schemas.microsoft.com/office/drawing/2014/main" id="{65E970A6-F12E-B642-B892-41D40B8CF863}"/>
              </a:ext>
            </a:extLst>
          </p:cNvPr>
          <p:cNvGrpSpPr/>
          <p:nvPr/>
        </p:nvGrpSpPr>
        <p:grpSpPr>
          <a:xfrm>
            <a:off x="5853234" y="3015735"/>
            <a:ext cx="485527" cy="1253115"/>
            <a:chOff x="5913392" y="3097931"/>
            <a:chExt cx="485527" cy="1253115"/>
          </a:xfrm>
        </p:grpSpPr>
        <p:cxnSp>
          <p:nvCxnSpPr>
            <p:cNvPr id="23" name="Straight Arrow Connector 22">
              <a:extLst>
                <a:ext uri="{FF2B5EF4-FFF2-40B4-BE49-F238E27FC236}">
                  <a16:creationId xmlns:a16="http://schemas.microsoft.com/office/drawing/2014/main" id="{A2FDAF3B-76F2-A641-9E8C-04DB873C34F1}"/>
                </a:ext>
              </a:extLst>
            </p:cNvPr>
            <p:cNvCxnSpPr>
              <a:cxnSpLocks/>
            </p:cNvCxnSpPr>
            <p:nvPr/>
          </p:nvCxnSpPr>
          <p:spPr>
            <a:xfrm rot="16200000">
              <a:off x="5306294" y="3705029"/>
              <a:ext cx="1214196" cy="0"/>
            </a:xfrm>
            <a:prstGeom prst="straightConnector1">
              <a:avLst/>
            </a:prstGeom>
            <a:ln w="15875">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04F5A91-EFFE-7D4D-AB42-807A21ED18A0}"/>
                </a:ext>
              </a:extLst>
            </p:cNvPr>
            <p:cNvCxnSpPr>
              <a:cxnSpLocks/>
            </p:cNvCxnSpPr>
            <p:nvPr/>
          </p:nvCxnSpPr>
          <p:spPr>
            <a:xfrm rot="16200000">
              <a:off x="5791821" y="3743948"/>
              <a:ext cx="1214196" cy="0"/>
            </a:xfrm>
            <a:prstGeom prst="straightConnector1">
              <a:avLst/>
            </a:prstGeom>
            <a:ln w="15875">
              <a:solidFill>
                <a:srgbClr val="C00000"/>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7CC35E44-C486-CC4E-98D4-562F61EC7F83}"/>
              </a:ext>
            </a:extLst>
          </p:cNvPr>
          <p:cNvSpPr txBox="1"/>
          <p:nvPr/>
        </p:nvSpPr>
        <p:spPr>
          <a:xfrm>
            <a:off x="6337962" y="3361359"/>
            <a:ext cx="1207929" cy="584775"/>
          </a:xfrm>
          <a:prstGeom prst="rect">
            <a:avLst/>
          </a:prstGeom>
          <a:noFill/>
        </p:spPr>
        <p:txBody>
          <a:bodyPr wrap="square">
            <a:spAutoFit/>
          </a:bodyPr>
          <a:lstStyle/>
          <a:p>
            <a:pPr algn="ctr"/>
            <a:r>
              <a:rPr lang="en-US" sz="1600" i="1" dirty="0">
                <a:solidFill>
                  <a:srgbClr val="C00000"/>
                </a:solidFill>
                <a:effectLst/>
                <a:latin typeface="Times New Roman" panose="02020603050405020304" pitchFamily="18" charset="0"/>
                <a:ea typeface="KaiTi" panose="02010609060101010101" pitchFamily="49" charset="-122"/>
              </a:rPr>
              <a:t>Special Funding </a:t>
            </a:r>
            <a:r>
              <a:rPr lang="en-US" altLang="zh-CN" sz="1600"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US" sz="1600" i="1" dirty="0">
              <a:solidFill>
                <a:srgbClr val="C00000"/>
              </a:solidFill>
              <a:effectLst/>
              <a:latin typeface="Times New Roman" panose="02020603050405020304" pitchFamily="18" charset="0"/>
              <a:ea typeface="KaiTi" panose="02010609060101010101" pitchFamily="49" charset="-122"/>
            </a:endParaRPr>
          </a:p>
        </p:txBody>
      </p:sp>
      <p:sp>
        <p:nvSpPr>
          <p:cNvPr id="26" name="TextBox 25">
            <a:extLst>
              <a:ext uri="{FF2B5EF4-FFF2-40B4-BE49-F238E27FC236}">
                <a16:creationId xmlns:a16="http://schemas.microsoft.com/office/drawing/2014/main" id="{35838F08-94A2-9543-AAE0-9DFE496251F0}"/>
              </a:ext>
            </a:extLst>
          </p:cNvPr>
          <p:cNvSpPr txBox="1"/>
          <p:nvPr/>
        </p:nvSpPr>
        <p:spPr>
          <a:xfrm>
            <a:off x="4879230" y="3484943"/>
            <a:ext cx="972222" cy="338554"/>
          </a:xfrm>
          <a:prstGeom prst="rect">
            <a:avLst/>
          </a:prstGeom>
          <a:noFill/>
        </p:spPr>
        <p:txBody>
          <a:bodyPr wrap="square">
            <a:spAutoFit/>
          </a:bodyPr>
          <a:lstStyle/>
          <a:p>
            <a:pPr algn="ctr"/>
            <a:r>
              <a:rPr lang="en-US" sz="1600" i="1" dirty="0">
                <a:solidFill>
                  <a:srgbClr val="C00000"/>
                </a:solidFill>
                <a:latin typeface="Times New Roman" panose="02020603050405020304" pitchFamily="18" charset="0"/>
                <a:ea typeface="KaiTi" panose="02010609060101010101" pitchFamily="49" charset="-122"/>
              </a:rPr>
              <a:t>Stock</a:t>
            </a:r>
            <a:r>
              <a:rPr lang="zh-CN" altLang="en-US" sz="1600" i="1" dirty="0">
                <a:solidFill>
                  <a:srgbClr val="C00000"/>
                </a:solidFill>
                <a:latin typeface="Times New Roman" panose="02020603050405020304" pitchFamily="18" charset="0"/>
                <a:ea typeface="KaiTi" panose="02010609060101010101" pitchFamily="49" charset="-122"/>
              </a:rPr>
              <a:t> </a:t>
            </a:r>
            <a:r>
              <a:rPr lang="en-US" altLang="zh-CN" sz="1600" b="1"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endParaRPr lang="en-CN" sz="1600" i="1" dirty="0">
              <a:solidFill>
                <a:srgbClr val="C00000"/>
              </a:solidFill>
            </a:endParaRPr>
          </a:p>
        </p:txBody>
      </p:sp>
      <p:sp>
        <p:nvSpPr>
          <p:cNvPr id="49" name="Rounded Rectangle 48">
            <a:extLst>
              <a:ext uri="{FF2B5EF4-FFF2-40B4-BE49-F238E27FC236}">
                <a16:creationId xmlns:a16="http://schemas.microsoft.com/office/drawing/2014/main" id="{06043D37-2C65-7A48-AB42-F2DAD582BB2E}"/>
              </a:ext>
            </a:extLst>
          </p:cNvPr>
          <p:cNvSpPr/>
          <p:nvPr/>
        </p:nvSpPr>
        <p:spPr>
          <a:xfrm>
            <a:off x="166632" y="1777666"/>
            <a:ext cx="11858735" cy="3302668"/>
          </a:xfrm>
          <a:prstGeom prst="roundRect">
            <a:avLst>
              <a:gd name="adj" fmla="val 2453"/>
            </a:avLst>
          </a:prstGeom>
          <a:noFill/>
          <a:ln w="19050">
            <a:solidFill>
              <a:schemeClr val="accent6">
                <a:lumMod val="50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CN"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86" name="TextBox 185">
            <a:extLst>
              <a:ext uri="{FF2B5EF4-FFF2-40B4-BE49-F238E27FC236}">
                <a16:creationId xmlns:a16="http://schemas.microsoft.com/office/drawing/2014/main" id="{93EDFCC8-D56B-3246-86F7-1E304047DA07}"/>
              </a:ext>
            </a:extLst>
          </p:cNvPr>
          <p:cNvSpPr txBox="1"/>
          <p:nvPr/>
        </p:nvSpPr>
        <p:spPr>
          <a:xfrm>
            <a:off x="8600398" y="4014428"/>
            <a:ext cx="3425371" cy="1065869"/>
          </a:xfrm>
          <a:prstGeom prst="rect">
            <a:avLst/>
          </a:prstGeom>
          <a:noFill/>
        </p:spPr>
        <p:txBody>
          <a:bodyPr wrap="square">
            <a:spAutoFit/>
          </a:bodyPr>
          <a:lstStyle/>
          <a:p>
            <a:pPr>
              <a:lnSpc>
                <a:spcPct val="120000"/>
              </a:lnSpc>
            </a:pPr>
            <a:r>
              <a:rPr lang="en-CN" sz="1800" b="1" i="1" dirty="0">
                <a:solidFill>
                  <a:schemeClr val="accent2"/>
                </a:solidFill>
                <a:effectLst/>
                <a:latin typeface="Times New Roman" panose="02020603050405020304" pitchFamily="18" charset="0"/>
                <a:ea typeface="KaiTi" panose="02010609060101010101" pitchFamily="49" charset="-122"/>
              </a:rPr>
              <a:t>Part 1. </a:t>
            </a:r>
            <a:r>
              <a:rPr lang="en-CN" b="1" i="1" dirty="0">
                <a:solidFill>
                  <a:schemeClr val="accent2"/>
                </a:solidFill>
                <a:latin typeface="Times New Roman" panose="02020603050405020304" pitchFamily="18" charset="0"/>
                <a:ea typeface="KaiTi" panose="02010609060101010101" pitchFamily="49" charset="-122"/>
              </a:rPr>
              <a:t>S</a:t>
            </a:r>
            <a:r>
              <a:rPr lang="en-CN" sz="1800" b="1" i="1" dirty="0">
                <a:solidFill>
                  <a:schemeClr val="accent2"/>
                </a:solidFill>
                <a:effectLst/>
                <a:latin typeface="Times New Roman" panose="02020603050405020304" pitchFamily="18" charset="0"/>
                <a:ea typeface="KaiTi" panose="02010609060101010101" pitchFamily="49" charset="-122"/>
              </a:rPr>
              <a:t>wap </a:t>
            </a:r>
            <a:r>
              <a:rPr lang="en-CN" b="1" i="1" dirty="0">
                <a:solidFill>
                  <a:schemeClr val="accent2"/>
                </a:solidFill>
                <a:latin typeface="Times New Roman" panose="02020603050405020304" pitchFamily="18" charset="0"/>
                <a:ea typeface="KaiTi" panose="02010609060101010101" pitchFamily="49" charset="-122"/>
              </a:rPr>
              <a:t>O</a:t>
            </a:r>
            <a:r>
              <a:rPr lang="en-CN" sz="1800" b="1" i="1" dirty="0">
                <a:solidFill>
                  <a:schemeClr val="accent2"/>
                </a:solidFill>
                <a:effectLst/>
                <a:latin typeface="Times New Roman" panose="02020603050405020304" pitchFamily="18" charset="0"/>
                <a:ea typeface="KaiTi" panose="02010609060101010101" pitchFamily="49" charset="-122"/>
              </a:rPr>
              <a:t>peration</a:t>
            </a:r>
          </a:p>
          <a:p>
            <a:pPr>
              <a:lnSpc>
                <a:spcPct val="120000"/>
              </a:lnSpc>
            </a:pPr>
            <a:r>
              <a:rPr lang="en-CN" b="1" i="1" dirty="0">
                <a:solidFill>
                  <a:schemeClr val="accent5"/>
                </a:solidFill>
                <a:latin typeface="Times New Roman" panose="02020603050405020304" pitchFamily="18" charset="0"/>
                <a:ea typeface="KaiTi" panose="02010609060101010101" pitchFamily="49" charset="-122"/>
              </a:rPr>
              <a:t>Part 2. I</a:t>
            </a:r>
            <a:r>
              <a:rPr lang="en-CN" sz="1800" b="1" i="1" dirty="0">
                <a:solidFill>
                  <a:schemeClr val="accent5"/>
                </a:solidFill>
                <a:effectLst/>
                <a:latin typeface="Times New Roman" panose="02020603050405020304" pitchFamily="18" charset="0"/>
                <a:ea typeface="KaiTi" panose="02010609060101010101" pitchFamily="49" charset="-122"/>
              </a:rPr>
              <a:t>nstitutional </a:t>
            </a:r>
            <a:r>
              <a:rPr lang="en-CN" b="1" i="1" dirty="0">
                <a:solidFill>
                  <a:schemeClr val="accent5"/>
                </a:solidFill>
                <a:latin typeface="Times New Roman" panose="02020603050405020304" pitchFamily="18" charset="0"/>
                <a:ea typeface="KaiTi" panose="02010609060101010101" pitchFamily="49" charset="-122"/>
              </a:rPr>
              <a:t>F</a:t>
            </a:r>
            <a:r>
              <a:rPr lang="en-CN" sz="1800" b="1" i="1" dirty="0">
                <a:solidFill>
                  <a:schemeClr val="accent5"/>
                </a:solidFill>
                <a:effectLst/>
                <a:latin typeface="Times New Roman" panose="02020603050405020304" pitchFamily="18" charset="0"/>
                <a:ea typeface="KaiTi" panose="02010609060101010101" pitchFamily="49" charset="-122"/>
              </a:rPr>
              <a:t>inancing</a:t>
            </a:r>
            <a:endParaRPr lang="en-CN" b="1" i="1" dirty="0">
              <a:solidFill>
                <a:schemeClr val="accent5"/>
              </a:solidFill>
              <a:latin typeface="Times New Roman" panose="02020603050405020304" pitchFamily="18" charset="0"/>
              <a:ea typeface="KaiTi" panose="02010609060101010101" pitchFamily="49" charset="-122"/>
            </a:endParaRPr>
          </a:p>
          <a:p>
            <a:pPr>
              <a:lnSpc>
                <a:spcPct val="120000"/>
              </a:lnSpc>
            </a:pPr>
            <a:r>
              <a:rPr lang="en-CN" sz="1800" b="1" i="1" dirty="0">
                <a:solidFill>
                  <a:srgbClr val="C00000"/>
                </a:solidFill>
                <a:effectLst/>
                <a:latin typeface="Times New Roman" panose="02020603050405020304" pitchFamily="18" charset="0"/>
                <a:ea typeface="KaiTi" panose="02010609060101010101" pitchFamily="49" charset="-122"/>
              </a:rPr>
              <a:t>Part 3. </a:t>
            </a:r>
            <a:r>
              <a:rPr lang="en-CN" b="1" i="1" dirty="0">
                <a:solidFill>
                  <a:srgbClr val="C00000"/>
                </a:solidFill>
                <a:latin typeface="Times New Roman" panose="02020603050405020304" pitchFamily="18" charset="0"/>
                <a:ea typeface="KaiTi" panose="02010609060101010101" pitchFamily="49" charset="-122"/>
              </a:rPr>
              <a:t>I</a:t>
            </a:r>
            <a:r>
              <a:rPr lang="en-CN" sz="1800" b="1" i="1" dirty="0">
                <a:solidFill>
                  <a:srgbClr val="C00000"/>
                </a:solidFill>
                <a:effectLst/>
                <a:latin typeface="Times New Roman" panose="02020603050405020304" pitchFamily="18" charset="0"/>
                <a:ea typeface="KaiTi" panose="02010609060101010101" pitchFamily="49" charset="-122"/>
              </a:rPr>
              <a:t>nstitutional </a:t>
            </a:r>
            <a:r>
              <a:rPr lang="en-CN" b="1" i="1" dirty="0">
                <a:solidFill>
                  <a:srgbClr val="C00000"/>
                </a:solidFill>
                <a:latin typeface="Times New Roman" panose="02020603050405020304" pitchFamily="18" charset="0"/>
                <a:ea typeface="KaiTi" panose="02010609060101010101" pitchFamily="49" charset="-122"/>
              </a:rPr>
              <a:t>I</a:t>
            </a:r>
            <a:r>
              <a:rPr lang="en-CN" sz="1800" b="1" i="1" dirty="0">
                <a:solidFill>
                  <a:srgbClr val="C00000"/>
                </a:solidFill>
                <a:effectLst/>
                <a:latin typeface="Times New Roman" panose="02020603050405020304" pitchFamily="18" charset="0"/>
                <a:ea typeface="KaiTi" panose="02010609060101010101" pitchFamily="49" charset="-122"/>
              </a:rPr>
              <a:t>nvestment</a:t>
            </a:r>
            <a:r>
              <a:rPr lang="en-CN" b="1" i="1" dirty="0">
                <a:solidFill>
                  <a:srgbClr val="C00000"/>
                </a:solidFill>
                <a:effectLst/>
              </a:rPr>
              <a:t> </a:t>
            </a:r>
            <a:endParaRPr lang="en-CN" b="1" i="1" dirty="0">
              <a:solidFill>
                <a:srgbClr val="C00000"/>
              </a:solidFill>
            </a:endParaRPr>
          </a:p>
        </p:txBody>
      </p:sp>
    </p:spTree>
    <p:extLst>
      <p:ext uri="{BB962C8B-B14F-4D97-AF65-F5344CB8AC3E}">
        <p14:creationId xmlns:p14="http://schemas.microsoft.com/office/powerpoint/2010/main" val="2896180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964</TotalTime>
  <Words>290</Words>
  <Application>Microsoft Macintosh PowerPoint</Application>
  <PresentationFormat>Widescreen</PresentationFormat>
  <Paragraphs>27</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Times New Roman</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凯 任</dc:creator>
  <cp:lastModifiedBy>凯 任</cp:lastModifiedBy>
  <cp:revision>547</cp:revision>
  <dcterms:created xsi:type="dcterms:W3CDTF">2024-12-08T12:43:28Z</dcterms:created>
  <dcterms:modified xsi:type="dcterms:W3CDTF">2025-01-02T01:42:55Z</dcterms:modified>
</cp:coreProperties>
</file>