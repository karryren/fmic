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6" r:id="rId3"/>
  </p:sldIdLst>
  <p:sldSz cx="12192000" cy="6858000"/>
  <p:notesSz cx="6858000" cy="9144000"/>
  <p:defaultTextStyle>
    <a:defPPr>
      <a:defRPr lang="en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6"/>
  </p:normalViewPr>
  <p:slideViewPr>
    <p:cSldViewPr snapToGrid="0" snapToObjects="1">
      <p:cViewPr varScale="1">
        <p:scale>
          <a:sx n="111" d="100"/>
          <a:sy n="111" d="100"/>
        </p:scale>
        <p:origin x="656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2B6150-C98F-7F47-B3AA-350E475166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0032B7-9815-6C4E-A7D8-00B936F29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8A47F-5803-634C-B64E-B46B411CD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2025/1/7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FB594-FFE5-BA48-AD5D-C566C21B3B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F920E6-0FBE-7C43-B107-A97885BF26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4299449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38402-E333-2645-8098-B6289F47C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FF373-792C-984B-8B37-8954F5B00B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6F357C-5B44-E343-9DDD-174FC3B15F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2025/1/7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5B1F7F-94A1-8749-8C3A-7DDCD01A4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34072A-BF28-7A4F-9018-DF31DD3AB3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7448232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80CE62-965C-F449-8EF2-113714D87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A99AD9-55A6-FC47-B98C-0AA99C6660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0F0680-B507-5C42-92B5-1E1079389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2025/1/7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F24B2D-C873-F946-92D6-02CD6F3C8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62B0AB-D2C9-D54F-941A-1326E0701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639621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9B729F-0329-2B40-AB60-C0A32CBF8D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20BE39-C8B2-184B-965E-FA948DA3A2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14F52C-29B0-E44B-9E3D-B312801AB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973A3C9-DA75-E94A-8452-B779626D8F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2025/1/7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F65010-7350-8A43-A099-F0DEEF5EC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39B0CD0-2AEE-F14F-A492-9F09B4ECC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395332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1F4310-6880-0049-AC51-4339853E5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E656F3-4470-0F40-94AB-DD5FE0EA63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4C0677-A3E2-294C-9351-906528485E7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617660-F89D-3F43-ACD0-51F1A86A91A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359E240-E2FF-014E-B296-92AD70AE43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58B6AD6-A484-B44D-8E43-9C208AB95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2025/1/7</a:t>
            </a:fld>
            <a:endParaRPr lang="en-C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C479D57-96E0-064B-8873-3A1470FDF9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42388EE-F979-574D-BD56-716459FF26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76297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46E28-1827-A74B-BFCE-23C4D4A615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CEBBC1-FA43-204C-A30B-459C5881FB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2025/1/7</a:t>
            </a:fld>
            <a:endParaRPr lang="en-C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70005F5-3381-2743-8C0A-059E79E5B3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B615D6-51FC-1841-9806-D24F671DB1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0902270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BB102CF-46A9-C64A-8228-FEE82610A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2025/1/7</a:t>
            </a:fld>
            <a:endParaRPr lang="en-C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B15D06-5913-5841-8599-7CFF91F9A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F06B91-AA5E-D24B-B61C-0E4AE130FE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884258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F3D4D-BE77-B942-ABDE-A291554C06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734EE-BC0F-1D49-9193-74B12F0760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36B035-59A6-E947-83A3-37D08D29FD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2BACD7-02C8-E740-B1A5-5BEDDB2DF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2025/1/7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A2D8E0-75C9-0D46-AD17-A938BFF68C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2538A9-8D1C-D84F-AAAF-C5080A9E3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0278091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161CDE-F82F-DD4B-AD64-532D61B14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5EE97EE-D903-B347-87C7-69C89ED199C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8841FD-D58E-9443-846A-9EAC2C4A4C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5FBA974-57BC-BE44-872E-30D47CC426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2025/1/7</a:t>
            </a:fld>
            <a:endParaRPr lang="en-C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7DAE094-9154-0445-B4A0-CA6E1F5D1A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3A8DBE-CB54-124F-93F0-E8C2BA1B1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360175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2DDABD-AB95-C44E-8042-D39B51254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3F7329B-6511-9E4F-B09F-B7E4004331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F8263F-E0BE-C54C-AF58-1863699BB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2025/1/7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09423-7D37-2B4E-B15D-296BB246AC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A3013-7649-5D49-B42A-5A6CB79E8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14737215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AFFEDCE-25FA-EE4B-9A0E-7CE6F869020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3CE0AFC-75E9-B644-8A2C-B785A44499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BE44D7-B3B7-D743-94ED-60B9C2A1B6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F2A1D6-A8BB-8049-9211-26FB059DAFA7}" type="datetimeFigureOut">
              <a:rPr lang="en-CN" smtClean="0"/>
              <a:t>2025/1/7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04F82B-85C5-B040-9F83-13CF3338E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C20F3D-7AC8-114B-91F1-514F2AA2D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5685453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8AE538-6176-D94F-B73F-6055B36A5F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0F3542-656D-0341-B126-2B9FBBCE53E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119B00-5E3B-E24A-93B4-57F6904D1A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F2A1D6-A8BB-8049-9211-26FB059DAFA7}" type="datetimeFigureOut">
              <a:rPr lang="en-CN" smtClean="0"/>
              <a:t>2025/1/7</a:t>
            </a:fld>
            <a:endParaRPr lang="en-C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02BC4A-A910-6249-93C5-C81D8A7737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C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BFA770-5D9E-DB4D-8D5D-ED7FF9E5E5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50CB31-ACC1-F74D-9480-62D08A76C3C2}" type="slidenum">
              <a:rPr lang="en-CN" smtClean="0"/>
              <a:t>‹#›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1101741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740BD3A-DC35-2B42-9BE2-C78B0AC53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781" y="1007110"/>
            <a:ext cx="10628438" cy="48437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D60CE48-01C4-C045-8378-EFC4DE116A0A}"/>
              </a:ext>
            </a:extLst>
          </p:cNvPr>
          <p:cNvSpPr txBox="1"/>
          <p:nvPr/>
        </p:nvSpPr>
        <p:spPr>
          <a:xfrm>
            <a:off x="781781" y="730111"/>
            <a:ext cx="9589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USD Billion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97E0DE1-6E4C-F543-8425-234DA4A8D4E8}"/>
              </a:ext>
            </a:extLst>
          </p:cNvPr>
          <p:cNvSpPr txBox="1"/>
          <p:nvPr/>
        </p:nvSpPr>
        <p:spPr>
          <a:xfrm>
            <a:off x="10451302" y="730111"/>
            <a:ext cx="9589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USD Billion</a:t>
            </a:r>
          </a:p>
        </p:txBody>
      </p:sp>
    </p:spTree>
    <p:extLst>
      <p:ext uri="{BB962C8B-B14F-4D97-AF65-F5344CB8AC3E}">
        <p14:creationId xmlns:p14="http://schemas.microsoft.com/office/powerpoint/2010/main" val="143277408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08036B5-78F7-B640-ACAA-4DBE8D1E1AB5}"/>
              </a:ext>
            </a:extLst>
          </p:cNvPr>
          <p:cNvSpPr/>
          <p:nvPr/>
        </p:nvSpPr>
        <p:spPr>
          <a:xfrm>
            <a:off x="1385102" y="296408"/>
            <a:ext cx="9421793" cy="6265184"/>
          </a:xfrm>
          <a:prstGeom prst="roundRect">
            <a:avLst>
              <a:gd name="adj" fmla="val 1247"/>
            </a:avLst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7" name="Group 26">
            <a:extLst>
              <a:ext uri="{FF2B5EF4-FFF2-40B4-BE49-F238E27FC236}">
                <a16:creationId xmlns:a16="http://schemas.microsoft.com/office/drawing/2014/main" id="{5B67A5F5-0EEB-0C43-9A43-C599A4500602}"/>
              </a:ext>
            </a:extLst>
          </p:cNvPr>
          <p:cNvGrpSpPr/>
          <p:nvPr/>
        </p:nvGrpSpPr>
        <p:grpSpPr>
          <a:xfrm>
            <a:off x="2299501" y="574007"/>
            <a:ext cx="7592993" cy="5709986"/>
            <a:chOff x="2299502" y="729206"/>
            <a:chExt cx="7592993" cy="5709986"/>
          </a:xfrm>
        </p:grpSpPr>
        <p:sp>
          <p:nvSpPr>
            <p:cNvPr id="5" name="Rounded Rectangle 4">
              <a:extLst>
                <a:ext uri="{FF2B5EF4-FFF2-40B4-BE49-F238E27FC236}">
                  <a16:creationId xmlns:a16="http://schemas.microsoft.com/office/drawing/2014/main" id="{181911C4-F1F7-CB46-AA29-22815AF5A3B5}"/>
                </a:ext>
              </a:extLst>
            </p:cNvPr>
            <p:cNvSpPr/>
            <p:nvPr/>
          </p:nvSpPr>
          <p:spPr>
            <a:xfrm>
              <a:off x="2299502" y="729206"/>
              <a:ext cx="7592993" cy="1944547"/>
            </a:xfrm>
            <a:prstGeom prst="roundRect">
              <a:avLst>
                <a:gd name="adj" fmla="val 1247"/>
              </a:avLst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Q1. We want to propose 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Reforms in China's Foreign Exchange Market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based on the Experience of the 2015 Exchange Reforms </a:t>
              </a:r>
            </a:p>
            <a:p>
              <a:pPr algn="ctr"/>
              <a:endPara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1. Say there are a lot of shortcomings in China now (FOX Market)</a:t>
              </a:r>
            </a:p>
            <a:p>
              <a:pPr algn="ctr"/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2. The 2015 Exchange Reforms make some change</a:t>
              </a:r>
              <a:r>
                <a:rPr lang="en-US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s</a:t>
              </a:r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(evaluate it)</a:t>
              </a:r>
            </a:p>
            <a:p>
              <a:pPr algn="ctr"/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3. Say we can propose the reforms based on that</a:t>
              </a:r>
            </a:p>
          </p:txBody>
        </p:sp>
        <p:sp>
          <p:nvSpPr>
            <p:cNvPr id="7" name="Rounded Rectangle 6">
              <a:extLst>
                <a:ext uri="{FF2B5EF4-FFF2-40B4-BE49-F238E27FC236}">
                  <a16:creationId xmlns:a16="http://schemas.microsoft.com/office/drawing/2014/main" id="{FF6613BB-AA61-5444-9FAF-F3E7F343BB6D}"/>
                </a:ext>
              </a:extLst>
            </p:cNvPr>
            <p:cNvSpPr/>
            <p:nvPr/>
          </p:nvSpPr>
          <p:spPr>
            <a:xfrm>
              <a:off x="2299502" y="2954633"/>
              <a:ext cx="7592993" cy="943916"/>
            </a:xfrm>
            <a:prstGeom prst="roundRect">
              <a:avLst>
                <a:gd name="adj" fmla="val 1247"/>
              </a:avLst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Q3. Analysis of the difference with other area </a:t>
              </a:r>
            </a:p>
            <a:p>
              <a:pPr algn="ctr"/>
              <a:r>
                <a: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(Say maybe we can find the idea from other areas)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1592B57A-DDF1-B649-850C-8AC4F61127C7}"/>
                </a:ext>
              </a:extLst>
            </p:cNvPr>
            <p:cNvCxnSpPr>
              <a:stCxn id="5" idx="2"/>
              <a:endCxn id="7" idx="0"/>
            </p:cNvCxnSpPr>
            <p:nvPr/>
          </p:nvCxnSpPr>
          <p:spPr>
            <a:xfrm>
              <a:off x="6095999" y="2673753"/>
              <a:ext cx="0" cy="280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4DA1832C-5F4F-8F49-9403-2DE4AF0274F6}"/>
                </a:ext>
              </a:extLst>
            </p:cNvPr>
            <p:cNvGrpSpPr/>
            <p:nvPr/>
          </p:nvGrpSpPr>
          <p:grpSpPr>
            <a:xfrm>
              <a:off x="2299502" y="4179429"/>
              <a:ext cx="7592993" cy="2259763"/>
              <a:chOff x="2299502" y="3853020"/>
              <a:chExt cx="7592993" cy="2259763"/>
            </a:xfrm>
          </p:grpSpPr>
          <p:sp>
            <p:nvSpPr>
              <p:cNvPr id="8" name="Rounded Rectangle 7">
                <a:extLst>
                  <a:ext uri="{FF2B5EF4-FFF2-40B4-BE49-F238E27FC236}">
                    <a16:creationId xmlns:a16="http://schemas.microsoft.com/office/drawing/2014/main" id="{5A7345D9-3FAF-FB43-A2F1-CB30E88C80D1}"/>
                  </a:ext>
                </a:extLst>
              </p:cNvPr>
              <p:cNvSpPr/>
              <p:nvPr/>
            </p:nvSpPr>
            <p:spPr>
              <a:xfrm>
                <a:off x="2299502" y="3853020"/>
                <a:ext cx="7592993" cy="2259763"/>
              </a:xfrm>
              <a:prstGeom prst="roundRect">
                <a:avLst>
                  <a:gd name="adj" fmla="val 1247"/>
                </a:avLst>
              </a:prstGeom>
              <a:solidFill>
                <a:schemeClr val="accent4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9" name="Rounded Rectangle 8">
                <a:extLst>
                  <a:ext uri="{FF2B5EF4-FFF2-40B4-BE49-F238E27FC236}">
                    <a16:creationId xmlns:a16="http://schemas.microsoft.com/office/drawing/2014/main" id="{9F9B9D54-DD9D-2142-866C-7E7D5EAA0419}"/>
                  </a:ext>
                </a:extLst>
              </p:cNvPr>
              <p:cNvSpPr/>
              <p:nvPr/>
            </p:nvSpPr>
            <p:spPr>
              <a:xfrm>
                <a:off x="2421422" y="4313408"/>
                <a:ext cx="2363939" cy="1418373"/>
              </a:xfrm>
              <a:prstGeom prst="roundRect">
                <a:avLst>
                  <a:gd name="adj" fmla="val 1247"/>
                </a:avLst>
              </a:prstGeom>
              <a:solidFill>
                <a:schemeClr val="accent4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Q2. Change </a:t>
                </a:r>
                <a:r>
                  <a:rPr 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Regulatory Agencies</a:t>
                </a:r>
              </a:p>
            </p:txBody>
          </p:sp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E0C509B-ADE7-E442-8F96-1AC527F9499C}"/>
                  </a:ext>
                </a:extLst>
              </p:cNvPr>
              <p:cNvSpPr txBox="1"/>
              <p:nvPr/>
            </p:nvSpPr>
            <p:spPr>
              <a:xfrm>
                <a:off x="2299502" y="3898549"/>
                <a:ext cx="759299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Details of Reforms Proposal</a:t>
                </a:r>
                <a:endParaRPr lang="en-CN" dirty="0"/>
              </a:p>
            </p:txBody>
          </p:sp>
          <p:sp>
            <p:nvSpPr>
              <p:cNvPr id="12" name="Rounded Rectangle 11">
                <a:extLst>
                  <a:ext uri="{FF2B5EF4-FFF2-40B4-BE49-F238E27FC236}">
                    <a16:creationId xmlns:a16="http://schemas.microsoft.com/office/drawing/2014/main" id="{D4218C58-C39E-5E46-A37C-4DC4C9161F0F}"/>
                  </a:ext>
                </a:extLst>
              </p:cNvPr>
              <p:cNvSpPr/>
              <p:nvPr/>
            </p:nvSpPr>
            <p:spPr>
              <a:xfrm>
                <a:off x="4914028" y="4313409"/>
                <a:ext cx="2363939" cy="1418374"/>
              </a:xfrm>
              <a:prstGeom prst="roundRect">
                <a:avLst>
                  <a:gd name="adj" fmla="val 1247"/>
                </a:avLst>
              </a:prstGeom>
              <a:solidFill>
                <a:schemeClr val="accent4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Q4. </a:t>
                </a:r>
                <a:r>
                  <a:rPr lang="en-US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en-US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</a:rPr>
                  <a:t>eform financial regulation in China</a:t>
                </a:r>
              </a:p>
            </p:txBody>
          </p:sp>
          <p:sp>
            <p:nvSpPr>
              <p:cNvPr id="13" name="Rounded Rectangle 12">
                <a:extLst>
                  <a:ext uri="{FF2B5EF4-FFF2-40B4-BE49-F238E27FC236}">
                    <a16:creationId xmlns:a16="http://schemas.microsoft.com/office/drawing/2014/main" id="{F49ECD91-0A99-A94C-9C15-AD6AD073D620}"/>
                  </a:ext>
                </a:extLst>
              </p:cNvPr>
              <p:cNvSpPr/>
              <p:nvPr/>
            </p:nvSpPr>
            <p:spPr>
              <a:xfrm>
                <a:off x="7403261" y="4313408"/>
                <a:ext cx="2363939" cy="1418375"/>
              </a:xfrm>
              <a:prstGeom prst="roundRect">
                <a:avLst>
                  <a:gd name="adj" fmla="val 1247"/>
                </a:avLst>
              </a:prstGeom>
              <a:solidFill>
                <a:schemeClr val="accent4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en-CN" dirty="0">
                    <a:solidFill>
                      <a:schemeClr val="tx1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Q5. </a:t>
                </a:r>
                <a:r>
                  <a:rPr lang="en-US" dirty="0">
                    <a:solidFill>
                      <a:srgbClr val="000000"/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R</a:t>
                </a:r>
                <a:r>
                  <a:rPr lang="en-US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</a:rPr>
                  <a:t>eforms to make Chinese capital markets more efficient</a:t>
                </a:r>
              </a:p>
              <a:p>
                <a:r>
                  <a:rPr lang="en-US" dirty="0">
                    <a:solidFill>
                      <a:srgbClr val="000000"/>
                    </a:solidFill>
                    <a:effectLst/>
                    <a:latin typeface="Times New Roman" panose="02020603050405020304" pitchFamily="18" charset="0"/>
                  </a:rPr>
                  <a:t>and safer</a:t>
                </a:r>
              </a:p>
            </p:txBody>
          </p:sp>
        </p:grp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2BFF230-44DB-0D42-A969-07E204AA7E4B}"/>
                </a:ext>
              </a:extLst>
            </p:cNvPr>
            <p:cNvCxnSpPr>
              <a:cxnSpLocks/>
              <a:stCxn id="7" idx="2"/>
              <a:endCxn id="8" idx="0"/>
            </p:cNvCxnSpPr>
            <p:nvPr/>
          </p:nvCxnSpPr>
          <p:spPr>
            <a:xfrm>
              <a:off x="6095999" y="3898549"/>
              <a:ext cx="0" cy="28088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5089988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115</Words>
  <Application>Microsoft Macintosh PowerPoint</Application>
  <PresentationFormat>Widescreen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7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凯 任</dc:creator>
  <cp:lastModifiedBy>凯 任</cp:lastModifiedBy>
  <cp:revision>94</cp:revision>
  <dcterms:created xsi:type="dcterms:W3CDTF">2025-01-07T06:01:04Z</dcterms:created>
  <dcterms:modified xsi:type="dcterms:W3CDTF">2025-01-07T08:59:57Z</dcterms:modified>
</cp:coreProperties>
</file>